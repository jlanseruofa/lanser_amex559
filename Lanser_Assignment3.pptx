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37A4-4BB3-0A41-8380-463C496C0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AREC/AAE 559: Assignment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ABDE6-DBFC-85A4-6541-B7EE32A238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Joseph Lanser</a:t>
            </a:r>
          </a:p>
        </p:txBody>
      </p:sp>
    </p:spTree>
    <p:extLst>
      <p:ext uri="{BB962C8B-B14F-4D97-AF65-F5344CB8AC3E}">
        <p14:creationId xmlns:p14="http://schemas.microsoft.com/office/powerpoint/2010/main" val="1603947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4465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F0EE46-5F0F-2506-7B23-24F2B951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6242719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What I did 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7E0CC-7C0E-E2C9-6276-D1235E3FE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2638044"/>
            <a:ext cx="6242715" cy="3415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Worked on a coding issue with my roll forward dependent variable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I never figured out why my coding method didn’t work (it should have in theory)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I changed methods nevertheless, and now have a Roll Forward Rate of 19.58% on 15,543 Observations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Worked on testing a Base Model (FICO, TSR, CDSS) vs Advanced Model that includes other variables we’ve discussed.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I looked at significant coefficients and how they changed across models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I looked at the predictive power of the advanced model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Did some light analysis/interpretation of how the two models matched up against eachother.</a:t>
            </a:r>
          </a:p>
          <a:p>
            <a:pPr marL="228600" lvl="1" indent="0">
              <a:lnSpc>
                <a:spcPct val="90000"/>
              </a:lnSpc>
              <a:buNone/>
            </a:pPr>
            <a:endParaRPr lang="en-US" sz="150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endParaRPr lang="en-US" sz="1500">
              <a:solidFill>
                <a:schemeClr val="bg1"/>
              </a:solidFill>
            </a:endParaRP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70A027BC-A275-D26E-39CD-BB31DE180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9870" y="1614253"/>
            <a:ext cx="3428662" cy="342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14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E36E-5184-3FB8-0793-38C56108A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456"/>
            <a:ext cx="7729728" cy="1188720"/>
          </a:xfrm>
        </p:spPr>
        <p:txBody>
          <a:bodyPr/>
          <a:lstStyle/>
          <a:p>
            <a:r>
              <a:rPr lang="en-US" dirty="0"/>
              <a:t>Base vs Advanced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D49778-329D-AD86-9E1E-24D958B80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73638"/>
              </p:ext>
            </p:extLst>
          </p:nvPr>
        </p:nvGraphicFramePr>
        <p:xfrm>
          <a:off x="426893" y="1924254"/>
          <a:ext cx="4209141" cy="43257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3047">
                  <a:extLst>
                    <a:ext uri="{9D8B030D-6E8A-4147-A177-3AD203B41FA5}">
                      <a16:colId xmlns:a16="http://schemas.microsoft.com/office/drawing/2014/main" val="1705961278"/>
                    </a:ext>
                  </a:extLst>
                </a:gridCol>
                <a:gridCol w="1403047">
                  <a:extLst>
                    <a:ext uri="{9D8B030D-6E8A-4147-A177-3AD203B41FA5}">
                      <a16:colId xmlns:a16="http://schemas.microsoft.com/office/drawing/2014/main" val="4202676272"/>
                    </a:ext>
                  </a:extLst>
                </a:gridCol>
                <a:gridCol w="1403047">
                  <a:extLst>
                    <a:ext uri="{9D8B030D-6E8A-4147-A177-3AD203B41FA5}">
                      <a16:colId xmlns:a16="http://schemas.microsoft.com/office/drawing/2014/main" val="4015706377"/>
                    </a:ext>
                  </a:extLst>
                </a:gridCol>
              </a:tblGrid>
              <a:tr h="43451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>
                          <a:effectLst/>
                        </a:rPr>
                        <a:t>Variable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 err="1">
                          <a:effectLst/>
                        </a:rPr>
                        <a:t>dy</a:t>
                      </a:r>
                      <a:r>
                        <a:rPr lang="en-US" sz="1400" u="none" strike="noStrike" dirty="0">
                          <a:effectLst/>
                        </a:rPr>
                        <a:t>/dx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>
                          <a:effectLst/>
                        </a:rPr>
                        <a:t>Significance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/>
                </a:tc>
                <a:extLst>
                  <a:ext uri="{0D108BD9-81ED-4DB2-BD59-A6C34878D82A}">
                    <a16:rowId xmlns:a16="http://schemas.microsoft.com/office/drawing/2014/main" val="1061220730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fico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0.000158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3179739131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-0.51217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61758123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tsr_bin1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-0.10819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3541154450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tsr_bin2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-0.06438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4242651721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tsr_bin3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-0.04629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41618262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tsr_bin4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-0.04413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795564134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tsr_bin5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-0.03796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3927079799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tsr_bin9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-0.02764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1806983626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-0.29032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3574651445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-0.22174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3532649278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-0.17669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855657060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-0.16575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4145557285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-0.13448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2492379793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-0.12883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2758872933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-0.11365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765727472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-0.08749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***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2210207684"/>
                  </a:ext>
                </a:extLst>
              </a:tr>
              <a:tr h="2288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cdss_bin9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-0.07272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***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46" marR="8246" marT="8246" marB="0" anchor="b"/>
                </a:tc>
                <a:extLst>
                  <a:ext uri="{0D108BD9-81ED-4DB2-BD59-A6C34878D82A}">
                    <a16:rowId xmlns:a16="http://schemas.microsoft.com/office/drawing/2014/main" val="40148455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DA52B8-17BF-1E7E-E029-27318EFAB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925422"/>
              </p:ext>
            </p:extLst>
          </p:nvPr>
        </p:nvGraphicFramePr>
        <p:xfrm>
          <a:off x="7555968" y="2130900"/>
          <a:ext cx="4209141" cy="4727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068">
                  <a:extLst>
                    <a:ext uri="{9D8B030D-6E8A-4147-A177-3AD203B41FA5}">
                      <a16:colId xmlns:a16="http://schemas.microsoft.com/office/drawing/2014/main" val="372847788"/>
                    </a:ext>
                  </a:extLst>
                </a:gridCol>
                <a:gridCol w="1299808">
                  <a:extLst>
                    <a:ext uri="{9D8B030D-6E8A-4147-A177-3AD203B41FA5}">
                      <a16:colId xmlns:a16="http://schemas.microsoft.com/office/drawing/2014/main" val="2109165358"/>
                    </a:ext>
                  </a:extLst>
                </a:gridCol>
                <a:gridCol w="1264265">
                  <a:extLst>
                    <a:ext uri="{9D8B030D-6E8A-4147-A177-3AD203B41FA5}">
                      <a16:colId xmlns:a16="http://schemas.microsoft.com/office/drawing/2014/main" val="18375208"/>
                    </a:ext>
                  </a:extLst>
                </a:gridCol>
              </a:tblGrid>
              <a:tr h="17303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Variable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dy/dx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Significance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/>
                </a:tc>
                <a:extLst>
                  <a:ext uri="{0D108BD9-81ED-4DB2-BD59-A6C34878D82A}">
                    <a16:rowId xmlns:a16="http://schemas.microsoft.com/office/drawing/2014/main" val="4289942188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-0.2661675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844585835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tsr_bin1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-0.0676493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17626631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tsr_bin2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-0.0462653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2805365307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tsr_bin3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-0.0409817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877397526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tsr_bin4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-0.0436196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1401962728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tsr_bin5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-0.0292115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4166355752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tsr_bin9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-0.0249887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867827548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-0.1409438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455380234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-0.1113056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1426061865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-0.0804935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22614165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-0.0859989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1342646767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-0.0676186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572850884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-0.0758753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937300463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-0.0529399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2598991940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-0.0412169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1152750991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cdss_bin9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-0.0343459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672512160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charge_dum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-0.0250804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999579023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case_duration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0.0032773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703459686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tenure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0.0004854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2485715614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cs_other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-0.2359049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245003112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cs_low_balance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-0.2475832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4155444645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cs_currents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-0.2770973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6558957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cs_seg_a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-0.3249897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3082668818"/>
                  </a:ext>
                </a:extLst>
              </a:tr>
              <a:tr h="1730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cs_high_balance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-0.2632811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**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04" marR="6204" marT="6204" marB="0" anchor="b"/>
                </a:tc>
                <a:extLst>
                  <a:ext uri="{0D108BD9-81ED-4DB2-BD59-A6C34878D82A}">
                    <a16:rowId xmlns:a16="http://schemas.microsoft.com/office/drawing/2014/main" val="5751034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0A6918-4DC8-B811-5766-2F40604EFFA0}"/>
              </a:ext>
            </a:extLst>
          </p:cNvPr>
          <p:cNvSpPr txBox="1"/>
          <p:nvPr/>
        </p:nvSpPr>
        <p:spPr>
          <a:xfrm>
            <a:off x="4104382" y="6450683"/>
            <a:ext cx="34515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Note: Used delta method to calculate </a:t>
            </a:r>
            <a:r>
              <a:rPr lang="en-US" sz="1050" dirty="0" err="1"/>
              <a:t>dy</a:t>
            </a:r>
            <a:r>
              <a:rPr lang="en-US" sz="1050" dirty="0"/>
              <a:t>/dx and significance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F46BF-A6C9-D700-D658-54C095262052}"/>
              </a:ext>
            </a:extLst>
          </p:cNvPr>
          <p:cNvSpPr txBox="1"/>
          <p:nvPr/>
        </p:nvSpPr>
        <p:spPr>
          <a:xfrm>
            <a:off x="225863" y="1538917"/>
            <a:ext cx="4611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Base model: Roll over = FICO, CDSS, TSR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05BBF-0C51-EF7B-E28A-22E04D384DF3}"/>
              </a:ext>
            </a:extLst>
          </p:cNvPr>
          <p:cNvSpPr txBox="1"/>
          <p:nvPr/>
        </p:nvSpPr>
        <p:spPr>
          <a:xfrm>
            <a:off x="7805283" y="653572"/>
            <a:ext cx="43867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Advanced Model : Roll Over = FICO, CDSS, TSR, Total balance due, customer vs small business binary, charge vs lend binary, case duration, tenure, credit segments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7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31BDE-EFD7-3321-0CD9-AD71FB8A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Overall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EC2B-1641-FA61-4E26-A5298C021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rtl="0"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>
                <a:effectLst/>
                <a:latin typeface="Arial" panose="020B0604020202020204" pitchFamily="34" charset="0"/>
              </a:rPr>
              <a:t>Base model: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 most TSR/CDSS bin variables are </a:t>
            </a:r>
            <a:r>
              <a:rPr lang="en-US" sz="1500" b="1" i="0" u="none" strike="noStrike">
                <a:effectLst/>
                <a:latin typeface="Arial" panose="020B0604020202020204" pitchFamily="34" charset="0"/>
              </a:rPr>
              <a:t>large and highly significant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 (p &lt; 0.01), especially CDSS bins (</a:t>
            </a:r>
            <a:r>
              <a:rPr lang="en-US" sz="1500" b="0" i="0" u="none" strike="noStrike" err="1">
                <a:effectLst/>
                <a:latin typeface="Arial" panose="020B0604020202020204" pitchFamily="34" charset="0"/>
              </a:rPr>
              <a:t>dy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/dx ≈ –0.13 to –0.29). FICO is </a:t>
            </a:r>
            <a:r>
              <a:rPr lang="en-US" sz="1500" b="1" i="0" u="none" strike="noStrike">
                <a:effectLst/>
                <a:latin typeface="Arial" panose="020B0604020202020204" pitchFamily="34" charset="0"/>
              </a:rPr>
              <a:t>positive and significant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 (p = 0.010).</a:t>
            </a:r>
            <a:br>
              <a:rPr lang="en-US" sz="1500" b="0" i="0" u="none" strike="noStrike">
                <a:effectLst/>
                <a:latin typeface="Arial" panose="020B0604020202020204" pitchFamily="34" charset="0"/>
              </a:rPr>
            </a:br>
            <a:br>
              <a:rPr lang="en-US" sz="1500" b="0" i="0" u="none" strike="noStrike">
                <a:effectLst/>
                <a:latin typeface="Arial" panose="020B0604020202020204" pitchFamily="34" charset="0"/>
              </a:rPr>
            </a:br>
            <a:endParaRPr lang="en-US" sz="1500" b="0" i="0" u="none" strike="noStrike">
              <a:effectLst/>
              <a:latin typeface="Arial" panose="020B0604020202020204" pitchFamily="34" charset="0"/>
            </a:endParaRPr>
          </a:p>
          <a:p>
            <a:pPr rtl="0" fontAlgn="base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>
                <a:effectLst/>
                <a:latin typeface="Arial" panose="020B0604020202020204" pitchFamily="34" charset="0"/>
              </a:rPr>
              <a:t>Advanced model: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 adding the extra financial and segmentation variables </a:t>
            </a:r>
            <a:r>
              <a:rPr lang="en-US" sz="1500" b="1" i="0" u="none" strike="noStrike">
                <a:effectLst/>
                <a:latin typeface="Arial" panose="020B0604020202020204" pitchFamily="34" charset="0"/>
              </a:rPr>
              <a:t>reduces the magnitude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 of most bin coefficients (they roughly halve) and </a:t>
            </a:r>
            <a:r>
              <a:rPr lang="en-US" sz="1500" b="1" i="0" u="none" strike="noStrike">
                <a:effectLst/>
                <a:latin typeface="Arial" panose="020B0604020202020204" pitchFamily="34" charset="0"/>
              </a:rPr>
              <a:t>raises their p-values</a:t>
            </a:r>
            <a:r>
              <a:rPr lang="en-US" sz="1500">
                <a:latin typeface="Arial" panose="020B0604020202020204" pitchFamily="34" charset="0"/>
              </a:rPr>
              <a:t>;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 </a:t>
            </a:r>
            <a:r>
              <a:rPr lang="en-US" sz="1500">
                <a:latin typeface="Arial" panose="020B0604020202020204" pitchFamily="34" charset="0"/>
              </a:rPr>
              <a:t>S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ome remain significant but the strength drops.</a:t>
            </a:r>
            <a:br>
              <a:rPr lang="en-US" sz="1500" b="0" i="0" u="none" strike="noStrike">
                <a:effectLst/>
                <a:latin typeface="Arial" panose="020B0604020202020204" pitchFamily="34" charset="0"/>
              </a:rPr>
            </a:br>
            <a:br>
              <a:rPr lang="en-US" sz="1500" b="0" i="0" u="none" strike="noStrike">
                <a:effectLst/>
                <a:latin typeface="Arial" panose="020B0604020202020204" pitchFamily="34" charset="0"/>
              </a:rPr>
            </a:br>
            <a:endParaRPr lang="en-US" sz="1500" b="0" i="0" u="none" strike="noStrike"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This is what I would expect if the added covariates </a:t>
            </a:r>
            <a:r>
              <a:rPr lang="en-US" sz="1500" b="1" i="0" u="none" strike="noStrike">
                <a:effectLst/>
                <a:latin typeface="Arial" panose="020B0604020202020204" pitchFamily="34" charset="0"/>
              </a:rPr>
              <a:t>explain some of the variation that was previously attributed to TSR/CDSS</a:t>
            </a:r>
            <a:r>
              <a:rPr lang="en-US" sz="1500" b="0" i="0" u="none" strike="noStrike">
                <a:effectLst/>
                <a:latin typeface="Arial" panose="020B0604020202020204" pitchFamily="34" charset="0"/>
              </a:rPr>
              <a:t>.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63834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00B8D-1599-0E19-E920-AFE6BFF78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dirty="0"/>
              <a:t>The FICO: </a:t>
            </a:r>
            <a:r>
              <a:rPr lang="en-US" dirty="0" err="1"/>
              <a:t>dy</a:t>
            </a:r>
            <a:r>
              <a:rPr lang="en-US" dirty="0"/>
              <a:t>/dx flipped signs, lost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C0F70-5010-5964-B770-389ED1748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 lnSpcReduction="10000"/>
          </a:bodyPr>
          <a:lstStyle/>
          <a:p>
            <a:pPr rtl="0"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7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Base: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700" b="0" i="0" u="none" strike="noStrike" dirty="0" err="1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dy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/dx = +0.00016 (p = 0.010) → higher FICO associated with </a:t>
            </a:r>
            <a:r>
              <a:rPr lang="en-US" sz="17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slightly more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probability of 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Roboto Mono" panose="020F0502020204030204" pitchFamily="34" charset="0"/>
              </a:rPr>
              <a:t>rolling over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b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endParaRPr lang="en-US" sz="1700" b="0" i="0" u="none" strike="noStrike" dirty="0"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Advanced: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700" b="0" i="0" u="none" strike="noStrike" dirty="0" err="1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dy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/dx = –0.00006 (p = 0.26) → sign shift and tiny, though not significant anyways.</a:t>
            </a:r>
            <a:b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b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endParaRPr lang="en-US" sz="1700" b="0" i="0" u="none" strike="noStrike" dirty="0"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Interpretation: once you control for </a:t>
            </a:r>
            <a:r>
              <a:rPr lang="en-US" sz="17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balances, charges, tenure, case duration, and customer segments</a:t>
            </a:r>
            <a:r>
              <a:rPr lang="en-US" sz="17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, the small positive FICO effect disappears (likely confounding: customers with higher FICO also had other financial attributes now in the model).</a:t>
            </a:r>
            <a:endParaRPr lang="en-US" sz="17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849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7CEE4-EE88-805A-5BFF-308FE9B30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984" y="1283546"/>
            <a:ext cx="5715917" cy="3914063"/>
          </a:xfrm>
        </p:spPr>
        <p:txBody>
          <a:bodyPr anchor="ctr">
            <a:normAutofit/>
          </a:bodyPr>
          <a:lstStyle/>
          <a:p>
            <a:pPr rtl="0" fontAlgn="base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CDSS bins:</a:t>
            </a:r>
            <a:b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b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endParaRPr lang="en-US" sz="1100" b="0" i="0" u="none" strike="noStrike" dirty="0"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Base: very strong (e.g., bin1 –0.29, bin2 –0.22, p &lt; 0.001).</a:t>
            </a:r>
            <a:b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b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endParaRPr lang="en-US" sz="1100" b="0" i="0" u="none" strike="noStrike" dirty="0"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Advanced: about </a:t>
            </a:r>
            <a: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half the size</a:t>
            </a:r>
            <a: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(bin1 –0.14, bin2 –0.11) but still </a:t>
            </a:r>
            <a: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highly significant (p &lt; 0.001)</a:t>
            </a:r>
            <a: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b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endParaRPr lang="en-US" sz="1100" b="0" i="0" u="none" strike="noStrike" dirty="0"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TSR bins:</a:t>
            </a:r>
            <a:b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b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endParaRPr lang="en-US" sz="1100" b="0" i="0" u="none" strike="noStrike" dirty="0"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Base: moderate negative, many p &lt; 0.05.</a:t>
            </a:r>
            <a:b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b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endParaRPr lang="en-US" sz="1100" b="0" i="0" u="none" strike="noStrike" dirty="0"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Advanced: smaller effects; some still significant but weaker (e.g., tsr_bin1 –0.07 p = 0.006; tsr_bin5 becomes marginal p = 0.057; bins 6-8 largely non-sig).</a:t>
            </a:r>
            <a:b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b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</a:br>
            <a:endParaRPr lang="en-US" sz="1100" b="0" i="0" u="none" strike="noStrike" dirty="0"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Interpretation: part of what TSR/CDSS were “predicting” was actually </a:t>
            </a:r>
            <a:r>
              <a:rPr lang="en-US" sz="1100" b="1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customer balance/segment info</a:t>
            </a:r>
            <a:r>
              <a:rPr lang="en-US" sz="1100" b="0" i="0" u="none" strike="noStrike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. They remain predictive, but not as strongly.</a:t>
            </a:r>
            <a:endParaRPr lang="en-US" sz="1100" dirty="0">
              <a:solidFill>
                <a:srgbClr val="40404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41289E-D421-FEF5-17A0-6254650F8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168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CDSS and TSR Bins Shrink dy/dx</a:t>
            </a:r>
          </a:p>
        </p:txBody>
      </p:sp>
    </p:spTree>
    <p:extLst>
      <p:ext uri="{BB962C8B-B14F-4D97-AF65-F5344CB8AC3E}">
        <p14:creationId xmlns:p14="http://schemas.microsoft.com/office/powerpoint/2010/main" val="201450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6BE5-60E7-E2A1-D5D4-92B344B0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Model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14DA9-48D9-3003-735A-40425472B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r>
              <a:rPr lang="en-US" dirty="0"/>
              <a:t>Looked at predicted </a:t>
            </a:r>
            <a:r>
              <a:rPr lang="en-US" dirty="0" err="1"/>
              <a:t>y_hat</a:t>
            </a:r>
            <a:r>
              <a:rPr lang="en-US" dirty="0"/>
              <a:t> values, and rounded them to a binary yes/no prediction.</a:t>
            </a:r>
          </a:p>
          <a:p>
            <a:r>
              <a:rPr lang="en-US" dirty="0"/>
              <a:t>Correlation Coefficient for y and y-hat: .6979</a:t>
            </a:r>
          </a:p>
          <a:p>
            <a:r>
              <a:rPr lang="en-US" dirty="0"/>
              <a:t>Correctly predicted cases: 89.21%</a:t>
            </a:r>
          </a:p>
          <a:p>
            <a:r>
              <a:rPr lang="en-US" dirty="0"/>
              <a:t>All of this is only for the advanced model, but I want to look at the same metrics for the Base Model this weekend just to see how worse it is (or better).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rror">
            <a:extLst>
              <a:ext uri="{FF2B5EF4-FFF2-40B4-BE49-F238E27FC236}">
                <a16:creationId xmlns:a16="http://schemas.microsoft.com/office/drawing/2014/main" id="{4ABF717E-C378-B705-66FB-7B4EB32F8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890" y="1768763"/>
            <a:ext cx="3328416" cy="33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8334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32</TotalTime>
  <Words>871</Words>
  <Application>Microsoft Macintosh PowerPoint</Application>
  <PresentationFormat>Widescreen</PresentationFormat>
  <Paragraphs>166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Roboto Mono</vt:lpstr>
      <vt:lpstr>Parcel</vt:lpstr>
      <vt:lpstr>AREC/AAE 559: Assignment 3</vt:lpstr>
      <vt:lpstr>What I did this week</vt:lpstr>
      <vt:lpstr>Base vs Advanced model</vt:lpstr>
      <vt:lpstr>Overall Pattern</vt:lpstr>
      <vt:lpstr>The FICO: dy/dx flipped signs, lost significance</vt:lpstr>
      <vt:lpstr>CDSS and TSR Bins Shrink dy/dx</vt:lpstr>
      <vt:lpstr>Model accuracy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Lanser, Joseph Lewis - (jlanser)</dc:creator>
  <cp:lastModifiedBy>Lanser, Joseph Lewis - (jlanser)</cp:lastModifiedBy>
  <cp:revision>6</cp:revision>
  <dcterms:created xsi:type="dcterms:W3CDTF">2025-09-25T21:06:23Z</dcterms:created>
  <dcterms:modified xsi:type="dcterms:W3CDTF">2025-09-25T21:39:07Z</dcterms:modified>
</cp:coreProperties>
</file>