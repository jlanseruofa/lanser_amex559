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719"/>
  </p:normalViewPr>
  <p:slideViewPr>
    <p:cSldViewPr snapToGrid="0">
      <p:cViewPr varScale="1">
        <p:scale>
          <a:sx n="119" d="100"/>
          <a:sy n="119" d="100"/>
        </p:scale>
        <p:origin x="2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E74EE7-656C-41AE-8D87-0D58F67A68F0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AD4F431-AC4C-4B55-B7E0-5E23BB8192D9}">
      <dgm:prSet/>
      <dgm:spPr/>
      <dgm:t>
        <a:bodyPr/>
        <a:lstStyle/>
        <a:p>
          <a:r>
            <a:rPr lang="en-US" b="0" i="0" dirty="0"/>
            <a:t>22,512 cases lasted less than 1 day. </a:t>
          </a:r>
        </a:p>
        <a:p>
          <a:r>
            <a:rPr lang="en-US" b="0" i="0" dirty="0"/>
            <a:t>That’s only 1.6% of cases in this sample.</a:t>
          </a:r>
          <a:endParaRPr lang="en-US" dirty="0"/>
        </a:p>
      </dgm:t>
    </dgm:pt>
    <dgm:pt modelId="{6D333F07-0B5D-4745-96F4-E4FB97AEE072}" type="parTrans" cxnId="{95840D9B-772C-4941-B40A-2667D4F255A6}">
      <dgm:prSet/>
      <dgm:spPr/>
      <dgm:t>
        <a:bodyPr/>
        <a:lstStyle/>
        <a:p>
          <a:endParaRPr lang="en-US"/>
        </a:p>
      </dgm:t>
    </dgm:pt>
    <dgm:pt modelId="{76E5F91E-0DC9-4739-A422-03B73857CA6F}" type="sibTrans" cxnId="{95840D9B-772C-4941-B40A-2667D4F255A6}">
      <dgm:prSet/>
      <dgm:spPr/>
      <dgm:t>
        <a:bodyPr/>
        <a:lstStyle/>
        <a:p>
          <a:endParaRPr lang="en-US"/>
        </a:p>
      </dgm:t>
    </dgm:pt>
    <dgm:pt modelId="{1BABFEF4-DEBA-4767-9A26-AF81C3FB0CDE}">
      <dgm:prSet/>
      <dgm:spPr/>
      <dgm:t>
        <a:bodyPr/>
        <a:lstStyle/>
        <a:p>
          <a:r>
            <a:rPr lang="en-US" b="0" i="0" dirty="0"/>
            <a:t>239,419 cases never closed (don’t have an RI).  </a:t>
          </a:r>
        </a:p>
        <a:p>
          <a:r>
            <a:rPr lang="en-US" b="0" i="0" dirty="0"/>
            <a:t>That’s 17.5% of cases.</a:t>
          </a:r>
          <a:endParaRPr lang="en-US" dirty="0"/>
        </a:p>
      </dgm:t>
    </dgm:pt>
    <dgm:pt modelId="{C13B902C-2428-4B1A-B60F-671F202288E9}" type="parTrans" cxnId="{F7AA1371-9992-486D-B93F-1DEA817E4A90}">
      <dgm:prSet/>
      <dgm:spPr/>
      <dgm:t>
        <a:bodyPr/>
        <a:lstStyle/>
        <a:p>
          <a:endParaRPr lang="en-US"/>
        </a:p>
      </dgm:t>
    </dgm:pt>
    <dgm:pt modelId="{C0AEA251-7E46-4A01-AED8-1B72681D157A}" type="sibTrans" cxnId="{F7AA1371-9992-486D-B93F-1DEA817E4A90}">
      <dgm:prSet/>
      <dgm:spPr/>
      <dgm:t>
        <a:bodyPr/>
        <a:lstStyle/>
        <a:p>
          <a:endParaRPr lang="en-US"/>
        </a:p>
      </dgm:t>
    </dgm:pt>
    <dgm:pt modelId="{36AF8DE0-75AB-44B2-A34D-EA8E18832668}">
      <dgm:prSet/>
      <dgm:spPr/>
      <dgm:t>
        <a:bodyPr/>
        <a:lstStyle/>
        <a:p>
          <a:r>
            <a:rPr lang="en-US" b="0" i="0" dirty="0"/>
            <a:t>I do think it is worth including cases less than a day in lifespan</a:t>
          </a:r>
        </a:p>
        <a:p>
          <a:r>
            <a:rPr lang="en-US" b="0" i="0" dirty="0"/>
            <a:t>1.6% of cases isn’t huge, but I think it is worth keeping them as it is a typical case type</a:t>
          </a:r>
        </a:p>
        <a:p>
          <a:r>
            <a:rPr lang="en-US" b="0" i="0" dirty="0"/>
            <a:t>(not uncommon just rare, want to include it in our models)</a:t>
          </a:r>
          <a:endParaRPr lang="en-US" dirty="0"/>
        </a:p>
      </dgm:t>
    </dgm:pt>
    <dgm:pt modelId="{61998BC7-B77D-4253-9073-A82D623634AD}" type="parTrans" cxnId="{4CA6E77A-3B10-45B6-A4C3-E6A88E33B079}">
      <dgm:prSet/>
      <dgm:spPr/>
      <dgm:t>
        <a:bodyPr/>
        <a:lstStyle/>
        <a:p>
          <a:endParaRPr lang="en-US"/>
        </a:p>
      </dgm:t>
    </dgm:pt>
    <dgm:pt modelId="{A1B1BE54-223F-42A4-8FAF-6FE70608524D}" type="sibTrans" cxnId="{4CA6E77A-3B10-45B6-A4C3-E6A88E33B079}">
      <dgm:prSet/>
      <dgm:spPr/>
      <dgm:t>
        <a:bodyPr/>
        <a:lstStyle/>
        <a:p>
          <a:endParaRPr lang="en-US"/>
        </a:p>
      </dgm:t>
    </dgm:pt>
    <dgm:pt modelId="{0FA1D406-8ED1-1440-A56A-CF7D74183034}" type="pres">
      <dgm:prSet presAssocID="{00E74EE7-656C-41AE-8D87-0D58F67A68F0}" presName="vert0" presStyleCnt="0">
        <dgm:presLayoutVars>
          <dgm:dir/>
          <dgm:animOne val="branch"/>
          <dgm:animLvl val="lvl"/>
        </dgm:presLayoutVars>
      </dgm:prSet>
      <dgm:spPr/>
    </dgm:pt>
    <dgm:pt modelId="{B3BCA5CA-9935-C947-A65C-76FD4EF1E3E7}" type="pres">
      <dgm:prSet presAssocID="{8AD4F431-AC4C-4B55-B7E0-5E23BB8192D9}" presName="thickLine" presStyleLbl="alignNode1" presStyleIdx="0" presStyleCnt="3"/>
      <dgm:spPr/>
    </dgm:pt>
    <dgm:pt modelId="{E9755472-DB07-BB42-A392-1A814638076E}" type="pres">
      <dgm:prSet presAssocID="{8AD4F431-AC4C-4B55-B7E0-5E23BB8192D9}" presName="horz1" presStyleCnt="0"/>
      <dgm:spPr/>
    </dgm:pt>
    <dgm:pt modelId="{01454019-76B5-174D-ABB6-C4C8F1917887}" type="pres">
      <dgm:prSet presAssocID="{8AD4F431-AC4C-4B55-B7E0-5E23BB8192D9}" presName="tx1" presStyleLbl="revTx" presStyleIdx="0" presStyleCnt="3"/>
      <dgm:spPr/>
    </dgm:pt>
    <dgm:pt modelId="{F74A39AA-D848-7342-BA59-2DD50FE0E537}" type="pres">
      <dgm:prSet presAssocID="{8AD4F431-AC4C-4B55-B7E0-5E23BB8192D9}" presName="vert1" presStyleCnt="0"/>
      <dgm:spPr/>
    </dgm:pt>
    <dgm:pt modelId="{29AEB164-9FAB-EA43-8031-C402AAA6EAF7}" type="pres">
      <dgm:prSet presAssocID="{1BABFEF4-DEBA-4767-9A26-AF81C3FB0CDE}" presName="thickLine" presStyleLbl="alignNode1" presStyleIdx="1" presStyleCnt="3"/>
      <dgm:spPr/>
    </dgm:pt>
    <dgm:pt modelId="{1C9A76CF-1FCB-8847-A33A-E38A83A6BA4F}" type="pres">
      <dgm:prSet presAssocID="{1BABFEF4-DEBA-4767-9A26-AF81C3FB0CDE}" presName="horz1" presStyleCnt="0"/>
      <dgm:spPr/>
    </dgm:pt>
    <dgm:pt modelId="{41A3A382-E368-B146-8009-5ADD2D6B757C}" type="pres">
      <dgm:prSet presAssocID="{1BABFEF4-DEBA-4767-9A26-AF81C3FB0CDE}" presName="tx1" presStyleLbl="revTx" presStyleIdx="1" presStyleCnt="3"/>
      <dgm:spPr/>
    </dgm:pt>
    <dgm:pt modelId="{E3E5E1A2-DDF3-AD48-BCDE-17B485A1F7F8}" type="pres">
      <dgm:prSet presAssocID="{1BABFEF4-DEBA-4767-9A26-AF81C3FB0CDE}" presName="vert1" presStyleCnt="0"/>
      <dgm:spPr/>
    </dgm:pt>
    <dgm:pt modelId="{EFFBF7DC-3730-8748-A91A-2DC256725675}" type="pres">
      <dgm:prSet presAssocID="{36AF8DE0-75AB-44B2-A34D-EA8E18832668}" presName="thickLine" presStyleLbl="alignNode1" presStyleIdx="2" presStyleCnt="3"/>
      <dgm:spPr/>
    </dgm:pt>
    <dgm:pt modelId="{3C0C3C97-9BE9-394D-AC9B-8CFBC9F38BC6}" type="pres">
      <dgm:prSet presAssocID="{36AF8DE0-75AB-44B2-A34D-EA8E18832668}" presName="horz1" presStyleCnt="0"/>
      <dgm:spPr/>
    </dgm:pt>
    <dgm:pt modelId="{D09F064A-4A43-8F4C-BDB2-E4930AE99756}" type="pres">
      <dgm:prSet presAssocID="{36AF8DE0-75AB-44B2-A34D-EA8E18832668}" presName="tx1" presStyleLbl="revTx" presStyleIdx="2" presStyleCnt="3"/>
      <dgm:spPr/>
    </dgm:pt>
    <dgm:pt modelId="{75B839C7-276A-4741-A43F-951C289AB59C}" type="pres">
      <dgm:prSet presAssocID="{36AF8DE0-75AB-44B2-A34D-EA8E18832668}" presName="vert1" presStyleCnt="0"/>
      <dgm:spPr/>
    </dgm:pt>
  </dgm:ptLst>
  <dgm:cxnLst>
    <dgm:cxn modelId="{F7AA1371-9992-486D-B93F-1DEA817E4A90}" srcId="{00E74EE7-656C-41AE-8D87-0D58F67A68F0}" destId="{1BABFEF4-DEBA-4767-9A26-AF81C3FB0CDE}" srcOrd="1" destOrd="0" parTransId="{C13B902C-2428-4B1A-B60F-671F202288E9}" sibTransId="{C0AEA251-7E46-4A01-AED8-1B72681D157A}"/>
    <dgm:cxn modelId="{0A593F7A-CD5B-D64D-A60D-A58BE71B3C1A}" type="presOf" srcId="{1BABFEF4-DEBA-4767-9A26-AF81C3FB0CDE}" destId="{41A3A382-E368-B146-8009-5ADD2D6B757C}" srcOrd="0" destOrd="0" presId="urn:microsoft.com/office/officeart/2008/layout/LinedList"/>
    <dgm:cxn modelId="{4CA6E77A-3B10-45B6-A4C3-E6A88E33B079}" srcId="{00E74EE7-656C-41AE-8D87-0D58F67A68F0}" destId="{36AF8DE0-75AB-44B2-A34D-EA8E18832668}" srcOrd="2" destOrd="0" parTransId="{61998BC7-B77D-4253-9073-A82D623634AD}" sibTransId="{A1B1BE54-223F-42A4-8FAF-6FE70608524D}"/>
    <dgm:cxn modelId="{95840D9B-772C-4941-B40A-2667D4F255A6}" srcId="{00E74EE7-656C-41AE-8D87-0D58F67A68F0}" destId="{8AD4F431-AC4C-4B55-B7E0-5E23BB8192D9}" srcOrd="0" destOrd="0" parTransId="{6D333F07-0B5D-4745-96F4-E4FB97AEE072}" sibTransId="{76E5F91E-0DC9-4739-A422-03B73857CA6F}"/>
    <dgm:cxn modelId="{7E1AF6C3-AFD1-314F-B763-5A68A041344A}" type="presOf" srcId="{36AF8DE0-75AB-44B2-A34D-EA8E18832668}" destId="{D09F064A-4A43-8F4C-BDB2-E4930AE99756}" srcOrd="0" destOrd="0" presId="urn:microsoft.com/office/officeart/2008/layout/LinedList"/>
    <dgm:cxn modelId="{1695D3ED-577D-1341-96F3-B778CA6BE675}" type="presOf" srcId="{00E74EE7-656C-41AE-8D87-0D58F67A68F0}" destId="{0FA1D406-8ED1-1440-A56A-CF7D74183034}" srcOrd="0" destOrd="0" presId="urn:microsoft.com/office/officeart/2008/layout/LinedList"/>
    <dgm:cxn modelId="{FCBB73EE-70AF-BC4E-AD49-F1D8693CBDC3}" type="presOf" srcId="{8AD4F431-AC4C-4B55-B7E0-5E23BB8192D9}" destId="{01454019-76B5-174D-ABB6-C4C8F1917887}" srcOrd="0" destOrd="0" presId="urn:microsoft.com/office/officeart/2008/layout/LinedList"/>
    <dgm:cxn modelId="{FB4B5A3D-AB66-A842-98CA-BEE3351236A4}" type="presParOf" srcId="{0FA1D406-8ED1-1440-A56A-CF7D74183034}" destId="{B3BCA5CA-9935-C947-A65C-76FD4EF1E3E7}" srcOrd="0" destOrd="0" presId="urn:microsoft.com/office/officeart/2008/layout/LinedList"/>
    <dgm:cxn modelId="{09984FBB-B83A-8E42-ACE4-71D18BCB51F4}" type="presParOf" srcId="{0FA1D406-8ED1-1440-A56A-CF7D74183034}" destId="{E9755472-DB07-BB42-A392-1A814638076E}" srcOrd="1" destOrd="0" presId="urn:microsoft.com/office/officeart/2008/layout/LinedList"/>
    <dgm:cxn modelId="{EFCD2678-EBC8-2B4C-8075-8CA6A0697289}" type="presParOf" srcId="{E9755472-DB07-BB42-A392-1A814638076E}" destId="{01454019-76B5-174D-ABB6-C4C8F1917887}" srcOrd="0" destOrd="0" presId="urn:microsoft.com/office/officeart/2008/layout/LinedList"/>
    <dgm:cxn modelId="{A4EB52D5-7561-EA42-AECC-09F464C187D2}" type="presParOf" srcId="{E9755472-DB07-BB42-A392-1A814638076E}" destId="{F74A39AA-D848-7342-BA59-2DD50FE0E537}" srcOrd="1" destOrd="0" presId="urn:microsoft.com/office/officeart/2008/layout/LinedList"/>
    <dgm:cxn modelId="{54DAD491-4E21-4347-8613-512191F59AA1}" type="presParOf" srcId="{0FA1D406-8ED1-1440-A56A-CF7D74183034}" destId="{29AEB164-9FAB-EA43-8031-C402AAA6EAF7}" srcOrd="2" destOrd="0" presId="urn:microsoft.com/office/officeart/2008/layout/LinedList"/>
    <dgm:cxn modelId="{EDD9E983-6842-DC49-B19E-BC6F1DB7B3B5}" type="presParOf" srcId="{0FA1D406-8ED1-1440-A56A-CF7D74183034}" destId="{1C9A76CF-1FCB-8847-A33A-E38A83A6BA4F}" srcOrd="3" destOrd="0" presId="urn:microsoft.com/office/officeart/2008/layout/LinedList"/>
    <dgm:cxn modelId="{F68CE05C-FF8D-1A40-A9CD-892F302C0E88}" type="presParOf" srcId="{1C9A76CF-1FCB-8847-A33A-E38A83A6BA4F}" destId="{41A3A382-E368-B146-8009-5ADD2D6B757C}" srcOrd="0" destOrd="0" presId="urn:microsoft.com/office/officeart/2008/layout/LinedList"/>
    <dgm:cxn modelId="{E512EF2E-8D2F-3C4C-B544-2EBAB7DDF779}" type="presParOf" srcId="{1C9A76CF-1FCB-8847-A33A-E38A83A6BA4F}" destId="{E3E5E1A2-DDF3-AD48-BCDE-17B485A1F7F8}" srcOrd="1" destOrd="0" presId="urn:microsoft.com/office/officeart/2008/layout/LinedList"/>
    <dgm:cxn modelId="{E4789993-F8AA-0F44-8B87-EE68E96F60C8}" type="presParOf" srcId="{0FA1D406-8ED1-1440-A56A-CF7D74183034}" destId="{EFFBF7DC-3730-8748-A91A-2DC256725675}" srcOrd="4" destOrd="0" presId="urn:microsoft.com/office/officeart/2008/layout/LinedList"/>
    <dgm:cxn modelId="{F0C53301-A1D5-3B49-9F5F-5CC48410A6F0}" type="presParOf" srcId="{0FA1D406-8ED1-1440-A56A-CF7D74183034}" destId="{3C0C3C97-9BE9-394D-AC9B-8CFBC9F38BC6}" srcOrd="5" destOrd="0" presId="urn:microsoft.com/office/officeart/2008/layout/LinedList"/>
    <dgm:cxn modelId="{3CDB9F9C-2BA1-B242-9D20-DB8AD1B88F8F}" type="presParOf" srcId="{3C0C3C97-9BE9-394D-AC9B-8CFBC9F38BC6}" destId="{D09F064A-4A43-8F4C-BDB2-E4930AE99756}" srcOrd="0" destOrd="0" presId="urn:microsoft.com/office/officeart/2008/layout/LinedList"/>
    <dgm:cxn modelId="{26981291-19AB-ED4F-9BF2-4365A8DE4A25}" type="presParOf" srcId="{3C0C3C97-9BE9-394D-AC9B-8CFBC9F38BC6}" destId="{75B839C7-276A-4741-A43F-951C289AB59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BCA5CA-9935-C947-A65C-76FD4EF1E3E7}">
      <dsp:nvSpPr>
        <dsp:cNvPr id="0" name=""/>
        <dsp:cNvSpPr/>
      </dsp:nvSpPr>
      <dsp:spPr>
        <a:xfrm>
          <a:off x="0" y="2831"/>
          <a:ext cx="7988631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1454019-76B5-174D-ABB6-C4C8F1917887}">
      <dsp:nvSpPr>
        <dsp:cNvPr id="0" name=""/>
        <dsp:cNvSpPr/>
      </dsp:nvSpPr>
      <dsp:spPr>
        <a:xfrm>
          <a:off x="0" y="2831"/>
          <a:ext cx="7988631" cy="19309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dirty="0"/>
            <a:t>22,512 cases lasted less than 1 day. </a:t>
          </a: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dirty="0"/>
            <a:t>That’s only 1.6% of cases in this sample.</a:t>
          </a:r>
          <a:endParaRPr lang="en-US" sz="2100" kern="1200" dirty="0"/>
        </a:p>
      </dsp:txBody>
      <dsp:txXfrm>
        <a:off x="0" y="2831"/>
        <a:ext cx="7988631" cy="1930903"/>
      </dsp:txXfrm>
    </dsp:sp>
    <dsp:sp modelId="{29AEB164-9FAB-EA43-8031-C402AAA6EAF7}">
      <dsp:nvSpPr>
        <dsp:cNvPr id="0" name=""/>
        <dsp:cNvSpPr/>
      </dsp:nvSpPr>
      <dsp:spPr>
        <a:xfrm>
          <a:off x="0" y="1933734"/>
          <a:ext cx="7988631" cy="0"/>
        </a:xfrm>
        <a:prstGeom prst="line">
          <a:avLst/>
        </a:prstGeom>
        <a:gradFill rotWithShape="0">
          <a:gsLst>
            <a:gs pos="0">
              <a:schemeClr val="accent2">
                <a:hueOff val="-245438"/>
                <a:satOff val="19406"/>
                <a:lumOff val="-392"/>
                <a:alphaOff val="0"/>
                <a:tint val="96000"/>
                <a:lumMod val="104000"/>
              </a:schemeClr>
            </a:gs>
            <a:gs pos="100000">
              <a:schemeClr val="accent2">
                <a:hueOff val="-245438"/>
                <a:satOff val="19406"/>
                <a:lumOff val="-392"/>
                <a:alphaOff val="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245438"/>
              <a:satOff val="19406"/>
              <a:lumOff val="-392"/>
              <a:alphaOff val="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1A3A382-E368-B146-8009-5ADD2D6B757C}">
      <dsp:nvSpPr>
        <dsp:cNvPr id="0" name=""/>
        <dsp:cNvSpPr/>
      </dsp:nvSpPr>
      <dsp:spPr>
        <a:xfrm>
          <a:off x="0" y="1933734"/>
          <a:ext cx="7988631" cy="19309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dirty="0"/>
            <a:t>239,419 cases never closed (don’t have an RI).  </a:t>
          </a: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dirty="0"/>
            <a:t>That’s 17.5% of cases.</a:t>
          </a:r>
          <a:endParaRPr lang="en-US" sz="2100" kern="1200" dirty="0"/>
        </a:p>
      </dsp:txBody>
      <dsp:txXfrm>
        <a:off x="0" y="1933734"/>
        <a:ext cx="7988631" cy="1930903"/>
      </dsp:txXfrm>
    </dsp:sp>
    <dsp:sp modelId="{EFFBF7DC-3730-8748-A91A-2DC256725675}">
      <dsp:nvSpPr>
        <dsp:cNvPr id="0" name=""/>
        <dsp:cNvSpPr/>
      </dsp:nvSpPr>
      <dsp:spPr>
        <a:xfrm>
          <a:off x="0" y="3864637"/>
          <a:ext cx="7988631" cy="0"/>
        </a:xfrm>
        <a:prstGeom prst="line">
          <a:avLst/>
        </a:prstGeom>
        <a:gradFill rotWithShape="0">
          <a:gsLst>
            <a:gs pos="0">
              <a:schemeClr val="accent2">
                <a:hueOff val="-490875"/>
                <a:satOff val="38812"/>
                <a:lumOff val="-784"/>
                <a:alphaOff val="0"/>
                <a:tint val="96000"/>
                <a:lumMod val="104000"/>
              </a:schemeClr>
            </a:gs>
            <a:gs pos="100000">
              <a:schemeClr val="accent2">
                <a:hueOff val="-490875"/>
                <a:satOff val="38812"/>
                <a:lumOff val="-784"/>
                <a:alphaOff val="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490875"/>
              <a:satOff val="38812"/>
              <a:lumOff val="-784"/>
              <a:alphaOff val="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09F064A-4A43-8F4C-BDB2-E4930AE99756}">
      <dsp:nvSpPr>
        <dsp:cNvPr id="0" name=""/>
        <dsp:cNvSpPr/>
      </dsp:nvSpPr>
      <dsp:spPr>
        <a:xfrm>
          <a:off x="0" y="3864637"/>
          <a:ext cx="7988631" cy="19309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dirty="0"/>
            <a:t>I do think it is worth including cases less than a day in lifespan</a:t>
          </a: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dirty="0"/>
            <a:t>1.6% of cases isn’t huge, but I think it is worth keeping them as it is a typical case type</a:t>
          </a: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dirty="0"/>
            <a:t>(not uncommon just rare, want to include it in our models)</a:t>
          </a:r>
          <a:endParaRPr lang="en-US" sz="2100" kern="1200" dirty="0"/>
        </a:p>
      </dsp:txBody>
      <dsp:txXfrm>
        <a:off x="0" y="3864637"/>
        <a:ext cx="7988631" cy="19309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9/10/25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9/10/25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B0443-5B3C-5865-CD6E-DA488C70E6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Assignment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305ECE-514B-CA6F-C9DF-CD7FB449ED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Joseph Lanser</a:t>
            </a:r>
          </a:p>
        </p:txBody>
      </p:sp>
    </p:spTree>
    <p:extLst>
      <p:ext uri="{BB962C8B-B14F-4D97-AF65-F5344CB8AC3E}">
        <p14:creationId xmlns:p14="http://schemas.microsoft.com/office/powerpoint/2010/main" val="1211944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graph of a number of hours elapsed per unique triplicate&#10;&#10;Description automatically generated">
            <a:extLst>
              <a:ext uri="{FF2B5EF4-FFF2-40B4-BE49-F238E27FC236}">
                <a16:creationId xmlns:a16="http://schemas.microsoft.com/office/drawing/2014/main" id="{417581D5-DFF6-8136-7E58-471AF9963B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1839" y="242772"/>
            <a:ext cx="4859077" cy="3243432"/>
          </a:xfrm>
          <a:prstGeom prst="roundRect">
            <a:avLst>
              <a:gd name="adj" fmla="val 4380"/>
            </a:avLst>
          </a:prstGeom>
          <a:noFill/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0234D92-7F66-C261-9088-D63E5E4C56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1840" y="3614568"/>
            <a:ext cx="4859076" cy="3243431"/>
          </a:xfrm>
          <a:prstGeom prst="roundRect">
            <a:avLst>
              <a:gd name="adj" fmla="val 4380"/>
            </a:avLst>
          </a:prstGeom>
          <a:noFill/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D22C06B-3FC5-20E4-DFAC-B473B5E4020B}"/>
              </a:ext>
            </a:extLst>
          </p:cNvPr>
          <p:cNvSpPr txBox="1"/>
          <p:nvPr/>
        </p:nvSpPr>
        <p:spPr>
          <a:xfrm>
            <a:off x="5439603" y="644084"/>
            <a:ext cx="8089248" cy="55698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</a:lvl1pPr>
          </a:lstStyle>
          <a:p>
            <a:pPr marL="0" indent="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None/>
            </a:pPr>
            <a:r>
              <a:rPr lang="en-US" sz="2800" u="sng" cap="small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Using the 1% Random Sample: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2400" cap="small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26,037 Unique Triplicates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2400" cap="small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Earliest case OPEN date: May 24</a:t>
            </a:r>
            <a:r>
              <a:rPr lang="en-US" sz="2400" cap="small" baseline="30000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th</a:t>
            </a:r>
            <a:r>
              <a:rPr lang="en-US" sz="2400" cap="small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2023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2400" cap="small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Latest  case OPEN date: June 26</a:t>
            </a:r>
            <a:r>
              <a:rPr lang="en-US" sz="2400" cap="small" baseline="30000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th</a:t>
            </a:r>
            <a:r>
              <a:rPr lang="en-US" sz="2400" cap="small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2025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2400" cap="small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Earliest case CLOSED date: January 1</a:t>
            </a:r>
            <a:r>
              <a:rPr lang="en-US" sz="2400" cap="small" baseline="30000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st</a:t>
            </a:r>
            <a:r>
              <a:rPr lang="en-US" sz="2400" cap="small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2024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2400" cap="small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Latest  case CLOSED date: August 15</a:t>
            </a:r>
            <a:r>
              <a:rPr lang="en-US" sz="2400" cap="small" baseline="30000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th</a:t>
            </a:r>
            <a:r>
              <a:rPr lang="en-US" sz="2400" cap="small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2025</a:t>
            </a:r>
            <a:br>
              <a:rPr lang="en-US" sz="2400" cap="small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</a:br>
            <a:endParaRPr lang="en-US" sz="2400" cap="small" dirty="0">
              <a:gradFill flip="none" rotWithShape="1">
                <a:gsLst>
                  <a:gs pos="0">
                    <a:schemeClr val="tx1"/>
                  </a:gs>
                  <a:gs pos="100000">
                    <a:schemeClr val="tx1">
                      <a:lumMod val="75000"/>
                    </a:schemeClr>
                  </a:gs>
                </a:gsLst>
                <a:lin ang="5580000" scaled="0"/>
                <a:tileRect/>
              </a:gradFill>
              <a:effectLst>
                <a:glow rad="38100">
                  <a:schemeClr val="bg1">
                    <a:lumMod val="50000"/>
                    <a:lumOff val="50000"/>
                    <a:alpha val="20000"/>
                  </a:scheme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78733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E475056-B0EB-44BE-8568-61ABEFB2E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4" y="0"/>
            <a:ext cx="8132066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C8E2EC-73A4-48C2-B4D7-D7726BD90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9971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82ABBDC-7A44-4AE8-A04F-B5495481B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94952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4" name="TextBox 1">
            <a:extLst>
              <a:ext uri="{FF2B5EF4-FFF2-40B4-BE49-F238E27FC236}">
                <a16:creationId xmlns:a16="http://schemas.microsoft.com/office/drawing/2014/main" id="{63196250-42D6-DB1B-B4B6-A3C3A20EE0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6192642"/>
              </p:ext>
            </p:extLst>
          </p:nvPr>
        </p:nvGraphicFramePr>
        <p:xfrm>
          <a:off x="4131651" y="529814"/>
          <a:ext cx="7988631" cy="57983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21370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0EF8982E-02F0-4D24-85CB-98DEBCC32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20D8A9-04A7-BB17-1CD2-CF50BD779ECD}"/>
              </a:ext>
            </a:extLst>
          </p:cNvPr>
          <p:cNvSpPr txBox="1"/>
          <p:nvPr/>
        </p:nvSpPr>
        <p:spPr>
          <a:xfrm>
            <a:off x="643192" y="2666999"/>
            <a:ext cx="3643674" cy="32162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800100" indent="-3429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b="0" i="0" u="none" strike="noStrike" cap="small" dirty="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Number of cases beyond 30 DPB: 23,450 (around 1.7%)</a:t>
            </a:r>
            <a:endParaRPr lang="en-US" cap="small" dirty="0">
              <a:gradFill flip="none" rotWithShape="1"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5580000" scaled="0"/>
                <a:tileRect/>
              </a:gradFill>
              <a:effectLst>
                <a:glow rad="38100">
                  <a:schemeClr val="bg1">
                    <a:lumMod val="50000"/>
                    <a:lumOff val="50000"/>
                    <a:alpha val="20000"/>
                  </a:scheme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marL="800100" indent="-3429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b="0" i="0" u="none" strike="noStrike" cap="small" dirty="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Number of case beyond 60 DPB:  16,390 (around 1.2%)</a:t>
            </a:r>
            <a:endParaRPr lang="en-US" cap="small" dirty="0">
              <a:gradFill flip="none" rotWithShape="1"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5580000" scaled="0"/>
                <a:tileRect/>
              </a:gradFill>
              <a:effectLst>
                <a:glow rad="38100">
                  <a:schemeClr val="bg1">
                    <a:lumMod val="50000"/>
                    <a:lumOff val="50000"/>
                    <a:alpha val="20000"/>
                  </a:scheme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marL="800100" indent="-3429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cap="small" dirty="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24.2</a:t>
            </a:r>
            <a:r>
              <a:rPr lang="en-US" b="0" i="0" u="none" strike="noStrike" cap="small" dirty="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% of 30 DPB cases move to 60 DPB</a:t>
            </a:r>
            <a:endParaRPr lang="en-US" b="0" cap="small" dirty="0">
              <a:gradFill flip="none" rotWithShape="1"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5580000" scaled="0"/>
                <a:tileRect/>
              </a:gradFill>
              <a:effectLst>
                <a:glow rad="38100">
                  <a:schemeClr val="bg1">
                    <a:lumMod val="50000"/>
                    <a:lumOff val="50000"/>
                    <a:alpha val="20000"/>
                  </a:scheme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  <p:sp>
        <p:nvSpPr>
          <p:cNvPr id="24" name="Rounded Rectangle 7">
            <a:extLst>
              <a:ext uri="{FF2B5EF4-FFF2-40B4-BE49-F238E27FC236}">
                <a16:creationId xmlns:a16="http://schemas.microsoft.com/office/drawing/2014/main" id="{2CB72970-2D5B-4516-9F76-B1220A77B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0994" y="620720"/>
            <a:ext cx="6929447" cy="5272133"/>
          </a:xfrm>
          <a:prstGeom prst="roundRect">
            <a:avLst>
              <a:gd name="adj" fmla="val 3812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C564404-C59D-741F-D56D-43C154B137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169805"/>
              </p:ext>
            </p:extLst>
          </p:nvPr>
        </p:nvGraphicFramePr>
        <p:xfrm>
          <a:off x="5239311" y="1115267"/>
          <a:ext cx="5712813" cy="4283044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1733605">
                  <a:extLst>
                    <a:ext uri="{9D8B030D-6E8A-4147-A177-3AD203B41FA5}">
                      <a16:colId xmlns:a16="http://schemas.microsoft.com/office/drawing/2014/main" val="3314022978"/>
                    </a:ext>
                  </a:extLst>
                </a:gridCol>
                <a:gridCol w="1989604">
                  <a:extLst>
                    <a:ext uri="{9D8B030D-6E8A-4147-A177-3AD203B41FA5}">
                      <a16:colId xmlns:a16="http://schemas.microsoft.com/office/drawing/2014/main" val="3140941538"/>
                    </a:ext>
                  </a:extLst>
                </a:gridCol>
                <a:gridCol w="1989604">
                  <a:extLst>
                    <a:ext uri="{9D8B030D-6E8A-4147-A177-3AD203B41FA5}">
                      <a16:colId xmlns:a16="http://schemas.microsoft.com/office/drawing/2014/main" val="1232212520"/>
                    </a:ext>
                  </a:extLst>
                </a:gridCol>
              </a:tblGrid>
              <a:tr h="791316">
                <a:tc>
                  <a:txBody>
                    <a:bodyPr/>
                    <a:lstStyle/>
                    <a:p>
                      <a:pPr algn="ctr" fontAlgn="t"/>
                      <a:r>
                        <a:rPr lang="en-US" sz="19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Metric</a:t>
                      </a:r>
                      <a:endParaRPr lang="en-US" sz="1900" b="1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518" marR="11089" marT="21291" marB="159682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9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Balance at 30 DPB</a:t>
                      </a:r>
                      <a:endParaRPr lang="en-US" sz="1900" b="1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518" marR="11089" marT="21291" marB="159682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9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Balance at 60 DPB</a:t>
                      </a:r>
                      <a:endParaRPr lang="en-US" sz="1900" b="1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518" marR="11089" marT="21291" marB="159682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996311"/>
                  </a:ext>
                </a:extLst>
              </a:tr>
              <a:tr h="4364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N (Obs)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518" marR="11089" marT="21291" marB="159682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22,298</a:t>
                      </a:r>
                      <a:endParaRPr lang="en-US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518" marR="11089" marT="21291" marB="159682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5,397</a:t>
                      </a:r>
                      <a:endParaRPr lang="en-US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518" marR="11089" marT="21291" marB="159682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5888570"/>
                  </a:ext>
                </a:extLst>
              </a:tr>
              <a:tr h="4364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Mean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518" marR="11089" marT="21291" marB="159682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$2,448.90</a:t>
                      </a:r>
                      <a:endParaRPr lang="en-US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518" marR="11089" marT="21291" marB="159682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$1,917.07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518" marR="11089" marT="21291" marB="159682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6377214"/>
                  </a:ext>
                </a:extLst>
              </a:tr>
              <a:tr h="4364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Std. Dev.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518" marR="11089" marT="21291" marB="159682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$12,531.05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518" marR="11089" marT="21291" marB="159682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$8,650.90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518" marR="11089" marT="21291" marB="159682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470649"/>
                  </a:ext>
                </a:extLst>
              </a:tr>
              <a:tr h="4364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Min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518" marR="11089" marT="21291" marB="159682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$1.59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518" marR="11089" marT="21291" marB="159682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$1.59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518" marR="11089" marT="21291" marB="159682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282541"/>
                  </a:ext>
                </a:extLst>
              </a:tr>
              <a:tr h="4364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25th Percentile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518" marR="11089" marT="21291" marB="159682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$155.67</a:t>
                      </a:r>
                      <a:endParaRPr lang="en-US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518" marR="11089" marT="21291" marB="159682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$181.00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518" marR="11089" marT="21291" marB="159682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8724676"/>
                  </a:ext>
                </a:extLst>
              </a:tr>
              <a:tr h="4364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Median (50th)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518" marR="11089" marT="21291" marB="159682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$340.00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518" marR="11089" marT="21291" marB="159682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$340.27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518" marR="11089" marT="21291" marB="159682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438359"/>
                  </a:ext>
                </a:extLst>
              </a:tr>
              <a:tr h="4364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75th Percentile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518" marR="11089" marT="21291" marB="159682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$983.03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518" marR="11089" marT="21291" marB="159682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$1,059.31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518" marR="11089" marT="21291" marB="159682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049582"/>
                  </a:ext>
                </a:extLst>
              </a:tr>
              <a:tr h="4364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Max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518" marR="11089" marT="21291" marB="159682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$617,975.40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518" marR="11089" marT="21291" marB="159682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$159,540.10</a:t>
                      </a:r>
                      <a:endParaRPr lang="en-US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518" marR="11089" marT="21291" marB="159682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3653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8801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93" name="Rectangle 3092">
            <a:extLst>
              <a:ext uri="{FF2B5EF4-FFF2-40B4-BE49-F238E27FC236}">
                <a16:creationId xmlns:a16="http://schemas.microsoft.com/office/drawing/2014/main" id="{65F32515-9322-44A5-8C72-4C7BFB4618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5" name="Rectangle 3094">
            <a:extLst>
              <a:ext uri="{FF2B5EF4-FFF2-40B4-BE49-F238E27FC236}">
                <a16:creationId xmlns:a16="http://schemas.microsoft.com/office/drawing/2014/main" id="{A617F13B-5021-454F-90E5-3AB2383BF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aph of a number of balances&#10;&#10;Description automatically generated">
            <a:extLst>
              <a:ext uri="{FF2B5EF4-FFF2-40B4-BE49-F238E27FC236}">
                <a16:creationId xmlns:a16="http://schemas.microsoft.com/office/drawing/2014/main" id="{2DE5E1C4-BACE-0A39-E6F7-67D78D756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917" y="643467"/>
            <a:ext cx="8346166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778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88A4AF5-BFAB-D9FD-50F3-E3E835DF2D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852222"/>
              </p:ext>
            </p:extLst>
          </p:nvPr>
        </p:nvGraphicFramePr>
        <p:xfrm>
          <a:off x="161365" y="158972"/>
          <a:ext cx="6884895" cy="3245325"/>
        </p:xfrm>
        <a:graphic>
          <a:graphicData uri="http://schemas.openxmlformats.org/drawingml/2006/table">
            <a:tbl>
              <a:tblPr>
                <a:tableStyleId>{306799F8-075E-4A3A-A7F6-7FBC6576F1A4}</a:tableStyleId>
              </a:tblPr>
              <a:tblGrid>
                <a:gridCol w="2837859">
                  <a:extLst>
                    <a:ext uri="{9D8B030D-6E8A-4147-A177-3AD203B41FA5}">
                      <a16:colId xmlns:a16="http://schemas.microsoft.com/office/drawing/2014/main" val="3269421979"/>
                    </a:ext>
                  </a:extLst>
                </a:gridCol>
                <a:gridCol w="1332560">
                  <a:extLst>
                    <a:ext uri="{9D8B030D-6E8A-4147-A177-3AD203B41FA5}">
                      <a16:colId xmlns:a16="http://schemas.microsoft.com/office/drawing/2014/main" val="1689353671"/>
                    </a:ext>
                  </a:extLst>
                </a:gridCol>
                <a:gridCol w="1801424">
                  <a:extLst>
                    <a:ext uri="{9D8B030D-6E8A-4147-A177-3AD203B41FA5}">
                      <a16:colId xmlns:a16="http://schemas.microsoft.com/office/drawing/2014/main" val="1190038179"/>
                    </a:ext>
                  </a:extLst>
                </a:gridCol>
                <a:gridCol w="913052">
                  <a:extLst>
                    <a:ext uri="{9D8B030D-6E8A-4147-A177-3AD203B41FA5}">
                      <a16:colId xmlns:a16="http://schemas.microsoft.com/office/drawing/2014/main" val="2647223763"/>
                    </a:ext>
                  </a:extLst>
                </a:gridCol>
              </a:tblGrid>
              <a:tr h="364761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 dirty="0">
                          <a:ln w="3175">
                            <a:solidFill>
                              <a:schemeClr val="bg1">
                                <a:lumMod val="85000"/>
                                <a:lumOff val="1500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30 DPB: Customer Type</a:t>
                      </a:r>
                      <a:endParaRPr lang="en-US" sz="1100" b="1" i="0" u="none" strike="noStrike" dirty="0">
                        <a:ln w="3175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ln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ln w="3175">
                            <a:solidFill>
                              <a:schemeClr val="bg1">
                                <a:lumMod val="85000"/>
                                <a:lumOff val="1500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Consumer</a:t>
                      </a:r>
                      <a:endParaRPr lang="en-US" sz="1100" b="1" i="0" u="none" strike="noStrike">
                        <a:ln w="3175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ln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ln w="3175">
                            <a:solidFill>
                              <a:schemeClr val="bg1">
                                <a:lumMod val="85000"/>
                                <a:lumOff val="1500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Small Business</a:t>
                      </a:r>
                      <a:endParaRPr lang="en-US" sz="1100" b="1" i="0" u="none" strike="noStrike">
                        <a:ln w="3175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ln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 dirty="0">
                          <a:ln w="3175">
                            <a:solidFill>
                              <a:schemeClr val="bg1">
                                <a:lumMod val="85000"/>
                                <a:lumOff val="1500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Total</a:t>
                      </a:r>
                      <a:endParaRPr lang="en-US" sz="1100" b="1" i="0" u="none" strike="noStrike" dirty="0">
                        <a:ln w="3175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ln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5141845"/>
                  </a:ext>
                </a:extLst>
              </a:tr>
              <a:tr h="7201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ln w="3175">
                            <a:solidFill>
                              <a:schemeClr val="bg1">
                                <a:lumMod val="85000"/>
                                <a:lumOff val="1500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Charge</a:t>
                      </a:r>
                      <a:endParaRPr lang="en-US" sz="1100" b="0" i="0" u="none" strike="noStrike">
                        <a:ln w="3175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ln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ln w="3175">
                            <a:solidFill>
                              <a:schemeClr val="bg1">
                                <a:lumMod val="85000"/>
                                <a:lumOff val="1500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3,986</a:t>
                      </a:r>
                      <a:endParaRPr lang="en-US" sz="1100" b="0" i="0" u="none" strike="noStrike" dirty="0">
                        <a:ln w="3175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ln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ln w="3175">
                            <a:solidFill>
                              <a:schemeClr val="bg1">
                                <a:lumMod val="85000"/>
                                <a:lumOff val="1500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1,866</a:t>
                      </a:r>
                      <a:endParaRPr lang="en-US" sz="1100" b="0" i="0" u="none" strike="noStrike" dirty="0">
                        <a:ln w="3175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ln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ln w="3175">
                            <a:solidFill>
                              <a:schemeClr val="bg1">
                                <a:lumMod val="85000"/>
                                <a:lumOff val="1500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5,852</a:t>
                      </a:r>
                      <a:endParaRPr lang="en-US" sz="1100" b="0" i="0" u="none" strike="noStrike" dirty="0">
                        <a:ln w="3175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ln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0634390"/>
                  </a:ext>
                </a:extLst>
              </a:tr>
              <a:tr h="7201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ln w="3175">
                            <a:solidFill>
                              <a:schemeClr val="bg1">
                                <a:lumMod val="85000"/>
                                <a:lumOff val="1500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Charge+Lend</a:t>
                      </a:r>
                      <a:endParaRPr lang="en-US" sz="1100" b="0" i="0" u="none" strike="noStrike">
                        <a:ln w="3175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ln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ln w="3175">
                            <a:solidFill>
                              <a:schemeClr val="bg1">
                                <a:lumMod val="85000"/>
                                <a:lumOff val="1500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1,378</a:t>
                      </a:r>
                      <a:endParaRPr lang="en-US" sz="1100" b="0" i="0" u="none" strike="noStrike" dirty="0">
                        <a:ln w="3175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ln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ln w="3175">
                            <a:solidFill>
                              <a:schemeClr val="bg1">
                                <a:lumMod val="85000"/>
                                <a:lumOff val="1500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431</a:t>
                      </a:r>
                      <a:endParaRPr lang="en-US" sz="1100" b="0" i="0" u="none" strike="noStrike" dirty="0">
                        <a:ln w="3175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ln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ln w="3175">
                            <a:solidFill>
                              <a:schemeClr val="bg1">
                                <a:lumMod val="85000"/>
                                <a:lumOff val="1500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1,809</a:t>
                      </a:r>
                      <a:endParaRPr lang="en-US" sz="1100" b="0" i="0" u="none" strike="noStrike" dirty="0">
                        <a:ln w="3175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ln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8150450"/>
                  </a:ext>
                </a:extLst>
              </a:tr>
              <a:tr h="7201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ln w="3175">
                            <a:solidFill>
                              <a:schemeClr val="bg1">
                                <a:lumMod val="85000"/>
                                <a:lumOff val="1500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Lend</a:t>
                      </a:r>
                      <a:endParaRPr lang="en-US" sz="1100" b="0" i="0" u="none" strike="noStrike">
                        <a:ln w="3175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ln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ln w="3175">
                            <a:solidFill>
                              <a:schemeClr val="bg1">
                                <a:lumMod val="85000"/>
                                <a:lumOff val="1500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9,996</a:t>
                      </a:r>
                      <a:endParaRPr lang="en-US" sz="1100" b="0" i="0" u="none" strike="noStrike" dirty="0">
                        <a:ln w="3175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ln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ln w="3175">
                            <a:solidFill>
                              <a:schemeClr val="bg1">
                                <a:lumMod val="85000"/>
                                <a:lumOff val="1500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1,684</a:t>
                      </a:r>
                      <a:endParaRPr lang="en-US" sz="1100" b="0" i="0" u="none" strike="noStrike" dirty="0">
                        <a:ln w="3175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ln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ln w="3175">
                            <a:solidFill>
                              <a:schemeClr val="bg1">
                                <a:lumMod val="85000"/>
                                <a:lumOff val="1500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11,680</a:t>
                      </a:r>
                      <a:endParaRPr lang="en-US" sz="1100" b="0" i="0" u="none" strike="noStrike" dirty="0">
                        <a:ln w="3175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ln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6937875"/>
                  </a:ext>
                </a:extLst>
              </a:tr>
              <a:tr h="7201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ln w="3175">
                            <a:solidFill>
                              <a:schemeClr val="bg1">
                                <a:lumMod val="85000"/>
                                <a:lumOff val="1500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Total</a:t>
                      </a:r>
                      <a:endParaRPr lang="en-US" sz="1100" b="0" i="0" u="none" strike="noStrike">
                        <a:ln w="3175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ln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ln w="3175">
                            <a:solidFill>
                              <a:schemeClr val="bg1">
                                <a:lumMod val="85000"/>
                                <a:lumOff val="1500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15,360</a:t>
                      </a:r>
                      <a:endParaRPr lang="en-US" sz="1100" b="0" i="0" u="none" strike="noStrike" dirty="0">
                        <a:ln w="3175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ln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ln w="3175">
                            <a:solidFill>
                              <a:schemeClr val="bg1">
                                <a:lumMod val="85000"/>
                                <a:lumOff val="1500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3,981</a:t>
                      </a:r>
                      <a:endParaRPr lang="en-US" sz="1100" b="0" i="0" u="none" strike="noStrike" dirty="0">
                        <a:ln w="3175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ln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ln w="3175">
                            <a:solidFill>
                              <a:schemeClr val="bg1">
                                <a:lumMod val="85000"/>
                                <a:lumOff val="1500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19,341</a:t>
                      </a:r>
                      <a:endParaRPr lang="en-US" sz="1100" b="0" i="0" u="none" strike="noStrike" dirty="0">
                        <a:ln w="3175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ln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73127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C76C1DF-662B-F2A6-B1ED-62155F3641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299933"/>
              </p:ext>
            </p:extLst>
          </p:nvPr>
        </p:nvGraphicFramePr>
        <p:xfrm>
          <a:off x="4970033" y="3537139"/>
          <a:ext cx="7039313" cy="3161889"/>
        </p:xfrm>
        <a:graphic>
          <a:graphicData uri="http://schemas.openxmlformats.org/drawingml/2006/table">
            <a:tbl>
              <a:tblPr>
                <a:tableStyleId>{327F97BB-C833-4FB7-BDE5-3F7075034690}</a:tableStyleId>
              </a:tblPr>
              <a:tblGrid>
                <a:gridCol w="2965278">
                  <a:extLst>
                    <a:ext uri="{9D8B030D-6E8A-4147-A177-3AD203B41FA5}">
                      <a16:colId xmlns:a16="http://schemas.microsoft.com/office/drawing/2014/main" val="1409000380"/>
                    </a:ext>
                  </a:extLst>
                </a:gridCol>
                <a:gridCol w="1392392">
                  <a:extLst>
                    <a:ext uri="{9D8B030D-6E8A-4147-A177-3AD203B41FA5}">
                      <a16:colId xmlns:a16="http://schemas.microsoft.com/office/drawing/2014/main" val="3744055382"/>
                    </a:ext>
                  </a:extLst>
                </a:gridCol>
                <a:gridCol w="1882307">
                  <a:extLst>
                    <a:ext uri="{9D8B030D-6E8A-4147-A177-3AD203B41FA5}">
                      <a16:colId xmlns:a16="http://schemas.microsoft.com/office/drawing/2014/main" val="3320283592"/>
                    </a:ext>
                  </a:extLst>
                </a:gridCol>
                <a:gridCol w="799336">
                  <a:extLst>
                    <a:ext uri="{9D8B030D-6E8A-4147-A177-3AD203B41FA5}">
                      <a16:colId xmlns:a16="http://schemas.microsoft.com/office/drawing/2014/main" val="1316310296"/>
                    </a:ext>
                  </a:extLst>
                </a:gridCol>
              </a:tblGrid>
              <a:tr h="172347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 dirty="0">
                          <a:ln>
                            <a:solidFill>
                              <a:schemeClr val="bg1">
                                <a:lumMod val="85000"/>
                                <a:lumOff val="15000"/>
                              </a:schemeClr>
                            </a:solidFill>
                          </a:ln>
                          <a:effectLst/>
                        </a:rPr>
                        <a:t>60 DPB: Customer Type</a:t>
                      </a:r>
                      <a:endParaRPr lang="en-US" sz="1100" b="1" i="0" u="none" strike="noStrike" dirty="0">
                        <a:ln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ln>
                            <a:solidFill>
                              <a:schemeClr val="bg1">
                                <a:lumMod val="85000"/>
                                <a:lumOff val="15000"/>
                              </a:schemeClr>
                            </a:solidFill>
                          </a:ln>
                          <a:effectLst/>
                        </a:rPr>
                        <a:t>Consumer</a:t>
                      </a:r>
                      <a:endParaRPr lang="en-US" sz="1100" b="1" i="0" u="none" strike="noStrike">
                        <a:ln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ln>
                            <a:solidFill>
                              <a:schemeClr val="bg1">
                                <a:lumMod val="85000"/>
                                <a:lumOff val="15000"/>
                              </a:schemeClr>
                            </a:solidFill>
                          </a:ln>
                          <a:effectLst/>
                        </a:rPr>
                        <a:t>Small Business</a:t>
                      </a:r>
                      <a:endParaRPr lang="en-US" sz="1100" b="1" i="0" u="none" strike="noStrike">
                        <a:ln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ln>
                            <a:solidFill>
                              <a:schemeClr val="bg1">
                                <a:lumMod val="85000"/>
                                <a:lumOff val="15000"/>
                              </a:schemeClr>
                            </a:solidFill>
                          </a:ln>
                          <a:effectLst/>
                        </a:rPr>
                        <a:t>Total</a:t>
                      </a:r>
                      <a:endParaRPr lang="en-US" sz="1100" b="1" i="0" u="none" strike="noStrike">
                        <a:ln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6104799"/>
                  </a:ext>
                </a:extLst>
              </a:tr>
              <a:tr h="7461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ln>
                            <a:solidFill>
                              <a:schemeClr val="bg1">
                                <a:lumMod val="85000"/>
                                <a:lumOff val="15000"/>
                              </a:schemeClr>
                            </a:solidFill>
                          </a:ln>
                          <a:effectLst/>
                        </a:rPr>
                        <a:t>Charge</a:t>
                      </a:r>
                      <a:endParaRPr lang="en-US" sz="1100" b="0" i="0" u="none" strike="noStrike" dirty="0">
                        <a:ln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ln>
                            <a:solidFill>
                              <a:schemeClr val="bg1">
                                <a:lumMod val="85000"/>
                                <a:lumOff val="15000"/>
                              </a:schemeClr>
                            </a:solidFill>
                          </a:ln>
                          <a:effectLst/>
                        </a:rPr>
                        <a:t>385</a:t>
                      </a:r>
                      <a:endParaRPr lang="en-US" sz="1100" b="0" i="0" u="none" strike="noStrike">
                        <a:ln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ln>
                            <a:solidFill>
                              <a:schemeClr val="bg1">
                                <a:lumMod val="85000"/>
                                <a:lumOff val="15000"/>
                              </a:schemeClr>
                            </a:solidFill>
                          </a:ln>
                          <a:effectLst/>
                        </a:rPr>
                        <a:t>114</a:t>
                      </a:r>
                      <a:endParaRPr lang="en-US" sz="1100" b="0" i="0" u="none" strike="noStrike">
                        <a:ln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ln>
                            <a:solidFill>
                              <a:schemeClr val="bg1">
                                <a:lumMod val="85000"/>
                                <a:lumOff val="15000"/>
                              </a:schemeClr>
                            </a:solidFill>
                          </a:ln>
                          <a:effectLst/>
                        </a:rPr>
                        <a:t>499</a:t>
                      </a:r>
                      <a:endParaRPr lang="en-US" sz="1100" b="0" i="0" u="none" strike="noStrike">
                        <a:ln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623472"/>
                  </a:ext>
                </a:extLst>
              </a:tr>
              <a:tr h="7461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err="1">
                          <a:ln>
                            <a:solidFill>
                              <a:schemeClr val="bg1">
                                <a:lumMod val="85000"/>
                                <a:lumOff val="15000"/>
                              </a:schemeClr>
                            </a:solidFill>
                          </a:ln>
                          <a:effectLst/>
                        </a:rPr>
                        <a:t>Charge+Lend</a:t>
                      </a:r>
                      <a:endParaRPr lang="en-US" sz="1100" b="0" i="0" u="none" strike="noStrike" dirty="0">
                        <a:ln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ln>
                            <a:solidFill>
                              <a:schemeClr val="bg1">
                                <a:lumMod val="85000"/>
                                <a:lumOff val="15000"/>
                              </a:schemeClr>
                            </a:solidFill>
                          </a:ln>
                          <a:effectLst/>
                        </a:rPr>
                        <a:t>127</a:t>
                      </a:r>
                      <a:endParaRPr lang="en-US" sz="1100" b="0" i="0" u="none" strike="noStrike">
                        <a:ln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ln>
                            <a:solidFill>
                              <a:schemeClr val="bg1">
                                <a:lumMod val="85000"/>
                                <a:lumOff val="15000"/>
                              </a:schemeClr>
                            </a:solidFill>
                          </a:ln>
                          <a:effectLst/>
                        </a:rPr>
                        <a:t>35</a:t>
                      </a:r>
                      <a:endParaRPr lang="en-US" sz="1100" b="0" i="0" u="none" strike="noStrike">
                        <a:ln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ln>
                            <a:solidFill>
                              <a:schemeClr val="bg1">
                                <a:lumMod val="85000"/>
                                <a:lumOff val="15000"/>
                              </a:schemeClr>
                            </a:solidFill>
                          </a:ln>
                          <a:effectLst/>
                        </a:rPr>
                        <a:t>162</a:t>
                      </a:r>
                      <a:endParaRPr lang="en-US" sz="1100" b="0" i="0" u="none" strike="noStrike">
                        <a:ln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2312940"/>
                  </a:ext>
                </a:extLst>
              </a:tr>
              <a:tr h="7461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ln>
                            <a:solidFill>
                              <a:schemeClr val="bg1">
                                <a:lumMod val="85000"/>
                                <a:lumOff val="15000"/>
                              </a:schemeClr>
                            </a:solidFill>
                          </a:ln>
                          <a:effectLst/>
                        </a:rPr>
                        <a:t>Lend</a:t>
                      </a:r>
                      <a:endParaRPr lang="en-US" sz="1100" b="0" i="0" u="none" strike="noStrike">
                        <a:ln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ln>
                            <a:solidFill>
                              <a:schemeClr val="bg1">
                                <a:lumMod val="85000"/>
                                <a:lumOff val="15000"/>
                              </a:schemeClr>
                            </a:solidFill>
                          </a:ln>
                          <a:effectLst/>
                        </a:rPr>
                        <a:t>1020</a:t>
                      </a:r>
                      <a:endParaRPr lang="en-US" sz="1100" b="0" i="0" u="none" strike="noStrike">
                        <a:ln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ln>
                            <a:solidFill>
                              <a:schemeClr val="bg1">
                                <a:lumMod val="85000"/>
                                <a:lumOff val="15000"/>
                              </a:schemeClr>
                            </a:solidFill>
                          </a:ln>
                          <a:effectLst/>
                        </a:rPr>
                        <a:t>163</a:t>
                      </a:r>
                      <a:endParaRPr lang="en-US" sz="1100" b="0" i="0" u="none" strike="noStrike">
                        <a:ln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ln>
                            <a:solidFill>
                              <a:schemeClr val="bg1">
                                <a:lumMod val="85000"/>
                                <a:lumOff val="15000"/>
                              </a:schemeClr>
                            </a:solidFill>
                          </a:ln>
                          <a:effectLst/>
                        </a:rPr>
                        <a:t>1183</a:t>
                      </a:r>
                      <a:endParaRPr lang="en-US" sz="1100" b="0" i="0" u="none" strike="noStrike">
                        <a:ln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9408031"/>
                  </a:ext>
                </a:extLst>
              </a:tr>
              <a:tr h="7461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ln>
                            <a:solidFill>
                              <a:schemeClr val="bg1">
                                <a:lumMod val="85000"/>
                                <a:lumOff val="15000"/>
                              </a:schemeClr>
                            </a:solidFill>
                          </a:ln>
                          <a:effectLst/>
                        </a:rPr>
                        <a:t>Total</a:t>
                      </a:r>
                      <a:endParaRPr lang="en-US" sz="1100" b="0" i="0" u="none" strike="noStrike">
                        <a:ln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ln>
                            <a:solidFill>
                              <a:schemeClr val="bg1">
                                <a:lumMod val="85000"/>
                                <a:lumOff val="15000"/>
                              </a:schemeClr>
                            </a:solidFill>
                          </a:ln>
                          <a:effectLst/>
                        </a:rPr>
                        <a:t>1532</a:t>
                      </a:r>
                      <a:endParaRPr lang="en-US" sz="1100" b="0" i="0" u="none" strike="noStrike">
                        <a:ln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ln>
                            <a:solidFill>
                              <a:schemeClr val="bg1">
                                <a:lumMod val="85000"/>
                                <a:lumOff val="15000"/>
                              </a:schemeClr>
                            </a:solidFill>
                          </a:ln>
                          <a:effectLst/>
                        </a:rPr>
                        <a:t>312</a:t>
                      </a:r>
                      <a:endParaRPr lang="en-US" sz="1100" b="0" i="0" u="none" strike="noStrike">
                        <a:ln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ln>
                            <a:solidFill>
                              <a:schemeClr val="bg1">
                                <a:lumMod val="85000"/>
                                <a:lumOff val="15000"/>
                              </a:schemeClr>
                            </a:solidFill>
                          </a:ln>
                          <a:effectLst/>
                        </a:rPr>
                        <a:t>1844</a:t>
                      </a:r>
                      <a:endParaRPr lang="en-US" sz="1100" b="0" i="0" u="none" strike="noStrike" dirty="0">
                        <a:ln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38679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4802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F32515-9322-44A5-8C72-4C7BFB4618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17F13B-5021-454F-90E5-3AB2383BF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976F38B-02FC-32A3-4166-4C4A1E3297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3846699"/>
              </p:ext>
            </p:extLst>
          </p:nvPr>
        </p:nvGraphicFramePr>
        <p:xfrm>
          <a:off x="643467" y="1749563"/>
          <a:ext cx="10905071" cy="33588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3373">
                  <a:extLst>
                    <a:ext uri="{9D8B030D-6E8A-4147-A177-3AD203B41FA5}">
                      <a16:colId xmlns:a16="http://schemas.microsoft.com/office/drawing/2014/main" val="1693244400"/>
                    </a:ext>
                  </a:extLst>
                </a:gridCol>
                <a:gridCol w="655783">
                  <a:extLst>
                    <a:ext uri="{9D8B030D-6E8A-4147-A177-3AD203B41FA5}">
                      <a16:colId xmlns:a16="http://schemas.microsoft.com/office/drawing/2014/main" val="2542263116"/>
                    </a:ext>
                  </a:extLst>
                </a:gridCol>
                <a:gridCol w="877607">
                  <a:extLst>
                    <a:ext uri="{9D8B030D-6E8A-4147-A177-3AD203B41FA5}">
                      <a16:colId xmlns:a16="http://schemas.microsoft.com/office/drawing/2014/main" val="3070910483"/>
                    </a:ext>
                  </a:extLst>
                </a:gridCol>
                <a:gridCol w="1188670">
                  <a:extLst>
                    <a:ext uri="{9D8B030D-6E8A-4147-A177-3AD203B41FA5}">
                      <a16:colId xmlns:a16="http://schemas.microsoft.com/office/drawing/2014/main" val="1534146902"/>
                    </a:ext>
                  </a:extLst>
                </a:gridCol>
                <a:gridCol w="1313606">
                  <a:extLst>
                    <a:ext uri="{9D8B030D-6E8A-4147-A177-3AD203B41FA5}">
                      <a16:colId xmlns:a16="http://schemas.microsoft.com/office/drawing/2014/main" val="1108649370"/>
                    </a:ext>
                  </a:extLst>
                </a:gridCol>
                <a:gridCol w="1002543">
                  <a:extLst>
                    <a:ext uri="{9D8B030D-6E8A-4147-A177-3AD203B41FA5}">
                      <a16:colId xmlns:a16="http://schemas.microsoft.com/office/drawing/2014/main" val="1344129781"/>
                    </a:ext>
                  </a:extLst>
                </a:gridCol>
                <a:gridCol w="1188670">
                  <a:extLst>
                    <a:ext uri="{9D8B030D-6E8A-4147-A177-3AD203B41FA5}">
                      <a16:colId xmlns:a16="http://schemas.microsoft.com/office/drawing/2014/main" val="2175464511"/>
                    </a:ext>
                  </a:extLst>
                </a:gridCol>
                <a:gridCol w="1188670">
                  <a:extLst>
                    <a:ext uri="{9D8B030D-6E8A-4147-A177-3AD203B41FA5}">
                      <a16:colId xmlns:a16="http://schemas.microsoft.com/office/drawing/2014/main" val="1396135681"/>
                    </a:ext>
                  </a:extLst>
                </a:gridCol>
                <a:gridCol w="877608">
                  <a:extLst>
                    <a:ext uri="{9D8B030D-6E8A-4147-A177-3AD203B41FA5}">
                      <a16:colId xmlns:a16="http://schemas.microsoft.com/office/drawing/2014/main" val="1149129450"/>
                    </a:ext>
                  </a:extLst>
                </a:gridCol>
                <a:gridCol w="1438541">
                  <a:extLst>
                    <a:ext uri="{9D8B030D-6E8A-4147-A177-3AD203B41FA5}">
                      <a16:colId xmlns:a16="http://schemas.microsoft.com/office/drawing/2014/main" val="2292427306"/>
                    </a:ext>
                  </a:extLst>
                </a:gridCol>
              </a:tblGrid>
              <a:tr h="612541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>
                          <a:effectLst/>
                        </a:rPr>
                        <a:t>Customer Type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>
                          <a:effectLst/>
                        </a:rPr>
                        <a:t>DPB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>
                          <a:effectLst/>
                        </a:rPr>
                        <a:t>N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 dirty="0">
                          <a:effectLst/>
                        </a:rPr>
                        <a:t>Mean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>
                          <a:effectLst/>
                        </a:rPr>
                        <a:t>SD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>
                          <a:effectLst/>
                        </a:rPr>
                        <a:t>p25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>
                          <a:effectLst/>
                        </a:rPr>
                        <a:t>p50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>
                          <a:effectLst/>
                        </a:rPr>
                        <a:t>p75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>
                          <a:effectLst/>
                        </a:rPr>
                        <a:t>Min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>
                          <a:effectLst/>
                        </a:rPr>
                        <a:t>Max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9596523"/>
                  </a:ext>
                </a:extLst>
              </a:tr>
              <a:tr h="3432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Both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30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2,122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$4,007.45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$13,319.50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$392.46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$959.58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$2,676.90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$35.98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$241,518.41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6966916"/>
                  </a:ext>
                </a:extLst>
              </a:tr>
              <a:tr h="3432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Both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60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449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$3,769.41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$11,147.25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$452.64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$1,167.36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$2,865.00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$39.20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$157,665.33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8528029"/>
                  </a:ext>
                </a:extLst>
              </a:tr>
              <a:tr h="3432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Charge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30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6,521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$6,095.96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$21,305.04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$318.70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$1,002.12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$3,431.90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$3.83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$617,975.44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860538"/>
                  </a:ext>
                </a:extLst>
              </a:tr>
              <a:tr h="3432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Charge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60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1,440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$4,354.08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$14,851.27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$311.69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$842.73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$2,391.42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$3.83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$175,888.55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8920757"/>
                  </a:ext>
                </a:extLst>
              </a:tr>
              <a:tr h="3432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Lend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30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13,636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$464.81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$1,206.31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$122.17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$209.47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$465.04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$1.59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$46,997.37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4608209"/>
                  </a:ext>
                </a:extLst>
              </a:tr>
              <a:tr h="3432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Lend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60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3,504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$679.46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$2,090.23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$155.11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$226.65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$556.60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$1.59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$56,219.84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3843477"/>
                  </a:ext>
                </a:extLst>
              </a:tr>
              <a:tr h="3432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Total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30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22,279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$2,450.46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$12,536.25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$155.80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$340.00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$983.35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$1.59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$617,975.44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3100139"/>
                  </a:ext>
                </a:extLst>
              </a:tr>
              <a:tr h="3432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Total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60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5,393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$1,917.89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$8,654.04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$181.00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$340.00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$1,059.31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$1.59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$175,888.55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298" marR="15298" marT="152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97150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41335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135</TotalTime>
  <Words>425</Words>
  <Application>Microsoft Macintosh PowerPoint</Application>
  <PresentationFormat>Widescreen</PresentationFormat>
  <Paragraphs>175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Century Gothic</vt:lpstr>
      <vt:lpstr>Mesh</vt:lpstr>
      <vt:lpstr>Lab Assignment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Lanser, Joseph Lewis - (jlanser)</dc:creator>
  <cp:lastModifiedBy>Lanser, Joseph Lewis - (jlanser)</cp:lastModifiedBy>
  <cp:revision>17</cp:revision>
  <dcterms:created xsi:type="dcterms:W3CDTF">2025-09-10T18:35:45Z</dcterms:created>
  <dcterms:modified xsi:type="dcterms:W3CDTF">2025-09-10T20:50:45Z</dcterms:modified>
</cp:coreProperties>
</file>