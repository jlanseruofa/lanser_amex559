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85" r:id="rId2"/>
    <p:sldId id="390" r:id="rId3"/>
    <p:sldId id="391" r:id="rId4"/>
    <p:sldId id="397" r:id="rId5"/>
    <p:sldId id="398" r:id="rId6"/>
    <p:sldId id="393" r:id="rId7"/>
    <p:sldId id="394" r:id="rId8"/>
    <p:sldId id="399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6"/>
    <p:restoredTop sz="94719"/>
  </p:normalViewPr>
  <p:slideViewPr>
    <p:cSldViewPr snapToGrid="0">
      <p:cViewPr varScale="1">
        <p:scale>
          <a:sx n="120" d="100"/>
          <a:sy n="120" d="100"/>
        </p:scale>
        <p:origin x="34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404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07636-D37E-974B-845A-0B7F8917591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04D05-EB3E-D845-B972-ACC82292C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8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04D05-EB3E-D845-B972-ACC82292CB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8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F7C6-A15C-54E5-E15B-6F90250D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0C4A7-835E-F85E-6CBD-D87C2D94D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631B1-FEA5-B161-D657-F9ED2C6E5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60E3A-D609-B049-E671-FC40B47AD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04D05-EB3E-D845-B972-ACC82292CB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8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1D1F-5A72-12C5-787F-F11A8618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5E8C-0FF0-80A3-EC7C-F6A8FE243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7AFE5-84C8-A943-A37C-F09288DFC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67E93-7B9C-73CD-3BC7-3AC1A3751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04D05-EB3E-D845-B972-ACC82292CB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6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8C64-4926-A1C9-FC23-00966806F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E2452-D6EA-1160-4BFA-00A7DE8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D8B2-27B8-4221-218E-9E54D23A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CE4D-8285-E350-763C-30CE86E7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BBD7A-BE9D-9AC8-0EC2-85A888DE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9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B624-9362-CDA4-0FEF-98AAE154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4C35-ECD0-A72B-DEDE-AC0FD599A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A0DA-4D8B-A5D3-5291-4B4EF60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9F7AD-3C6F-477A-1522-5AA71724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DAD77-CEB4-E9D2-F329-D1C62772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5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3D10-9662-BB78-DC8D-86CB7EA1F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2D280-6190-B3E7-6BD6-255D4A8E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096F5-0E4B-E9DB-22EC-819ABABA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944A2-70F0-F1AF-122A-7068FD05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62ECD-F53E-F184-41EB-08A3ED5D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1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02BF-7659-C8D0-7554-9CEF6D8B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B8863-8E62-8041-700A-1FC7052FB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CB815-EFB8-E2EE-ECD2-721590728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C7F35-771F-5C50-F23E-0F716CBA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28094-FF4D-A576-3E18-2016B1B4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C4895-D3CB-434D-FE8E-8DECC0DC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1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45D5-F288-3897-19A7-BE08860B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DF5D4-9C6E-9B82-1784-96AEFBDAD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C214B-2D10-4241-7D7A-9D0BF28B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4180B-8E59-CD31-0DEE-AA08EFA7D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2162-D98D-AC4E-6437-D87EA592F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3F69D-2DB7-2B6A-799E-A5CC3567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3475C-62B8-F006-D961-CAF7981B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E80E3-400D-6EA4-AE55-24311CCA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2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3E6A-E02A-46E8-B370-A4205652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E8D3C-8129-6F3A-6B2B-7A40A988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94466-4B29-6F5B-D1BC-30E917E1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3758F-AEDE-05DC-D82F-F395EF19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7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CD545-22D3-4FD5-2655-0BCCAA23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71F04-7201-0334-9599-78FAB568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E1714-A6B3-5A9F-D7BD-58C2207E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6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4F0D-FCE3-18DB-9D75-3C0654494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5F78-4239-E3A2-2D1B-F38B412BA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725D9-AC09-883F-EFB6-2942BBE11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24BAB-A072-7163-14E2-8DF337823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DD3F8-04D7-8811-75B3-241A4E00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1EF4C-74B6-A0DD-75DA-C583446B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6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1E17-6256-F167-86F0-DB61B4DF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A4278-5A0B-A3C5-2AE9-2312759C6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08174-1987-25B9-7CB4-B816F199E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26C7A-7334-0825-E17A-B62BC520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B3972-125E-2DDB-734B-7F0C3DAA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EB25A-5DD5-3C86-380F-877DB9F9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8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B173-4533-B534-D099-4538E80D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BA669-B16F-8221-DA04-45C6A64AA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B9073-D7E7-1FBE-C528-A2E5DD2C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08480-7A8D-3190-C9C6-6DA7D725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ACFD4-0481-7AFD-BB3F-B28B4A4B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5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C96F3-59B7-BCE2-5280-05E6C584D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5B346-85E7-8478-BDEC-9BC482EF4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DAB2A-D47F-987B-5D8D-81D79B40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69B18-B29B-0E10-A463-6776570F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74CE-4E1B-98C5-9AA2-0F231047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59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F70D7D-8179-4F40-89E0-4CEF890A72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21032" y="5620978"/>
            <a:ext cx="864793" cy="8110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9EAAAF-AAFA-374B-BA2B-454C13D78E60}"/>
              </a:ext>
            </a:extLst>
          </p:cNvPr>
          <p:cNvSpPr/>
          <p:nvPr/>
        </p:nvSpPr>
        <p:spPr>
          <a:xfrm>
            <a:off x="4573683" y="6557065"/>
            <a:ext cx="3076531" cy="3302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AED6B75-1397-B64B-B89F-971C4FBB7C42}"/>
              </a:ext>
            </a:extLst>
          </p:cNvPr>
          <p:cNvSpPr/>
          <p:nvPr/>
        </p:nvSpPr>
        <p:spPr>
          <a:xfrm>
            <a:off x="-302684" y="482600"/>
            <a:ext cx="605367" cy="605367"/>
          </a:xfrm>
          <a:custGeom>
            <a:avLst/>
            <a:gdLst/>
            <a:ahLst/>
            <a:cxnLst/>
            <a:rect l="l" t="t" r="r" b="b"/>
            <a:pathLst>
              <a:path w="908050" h="90805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427AF-FC89-B544-AD6A-8861FD3D0E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21032" y="5620978"/>
            <a:ext cx="864793" cy="8110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950B3E-629C-5048-BBA1-C8B1F62EFD00}"/>
              </a:ext>
            </a:extLst>
          </p:cNvPr>
          <p:cNvSpPr/>
          <p:nvPr userDrawn="1"/>
        </p:nvSpPr>
        <p:spPr>
          <a:xfrm>
            <a:off x="4573683" y="6557065"/>
            <a:ext cx="3076531" cy="33020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7A607B4-CBD2-E04D-BDAA-181449BAF92E}"/>
              </a:ext>
            </a:extLst>
          </p:cNvPr>
          <p:cNvSpPr/>
          <p:nvPr userDrawn="1"/>
        </p:nvSpPr>
        <p:spPr>
          <a:xfrm>
            <a:off x="-302684" y="482600"/>
            <a:ext cx="605367" cy="605367"/>
          </a:xfrm>
          <a:custGeom>
            <a:avLst/>
            <a:gdLst/>
            <a:ahLst/>
            <a:cxnLst/>
            <a:rect l="l" t="t" r="r" b="b"/>
            <a:pathLst>
              <a:path w="908050" h="908050">
                <a:moveTo>
                  <a:pt x="453965" y="907930"/>
                </a:moveTo>
                <a:lnTo>
                  <a:pt x="409468" y="905744"/>
                </a:lnTo>
                <a:lnTo>
                  <a:pt x="365400" y="899207"/>
                </a:lnTo>
                <a:lnTo>
                  <a:pt x="322185" y="888382"/>
                </a:lnTo>
                <a:lnTo>
                  <a:pt x="280240" y="873373"/>
                </a:lnTo>
                <a:lnTo>
                  <a:pt x="239967" y="854326"/>
                </a:lnTo>
                <a:lnTo>
                  <a:pt x="201755" y="831423"/>
                </a:lnTo>
                <a:lnTo>
                  <a:pt x="165972" y="804884"/>
                </a:lnTo>
                <a:lnTo>
                  <a:pt x="132963" y="774966"/>
                </a:lnTo>
                <a:lnTo>
                  <a:pt x="103045" y="741957"/>
                </a:lnTo>
                <a:lnTo>
                  <a:pt x="76506" y="706174"/>
                </a:lnTo>
                <a:lnTo>
                  <a:pt x="53603" y="667962"/>
                </a:lnTo>
                <a:lnTo>
                  <a:pt x="34556" y="627689"/>
                </a:lnTo>
                <a:lnTo>
                  <a:pt x="19547" y="585744"/>
                </a:lnTo>
                <a:lnTo>
                  <a:pt x="8722" y="542529"/>
                </a:lnTo>
                <a:lnTo>
                  <a:pt x="2185" y="498461"/>
                </a:lnTo>
                <a:lnTo>
                  <a:pt x="0" y="453965"/>
                </a:lnTo>
                <a:lnTo>
                  <a:pt x="136" y="442820"/>
                </a:lnTo>
                <a:lnTo>
                  <a:pt x="3414" y="398391"/>
                </a:lnTo>
                <a:lnTo>
                  <a:pt x="11030" y="354497"/>
                </a:lnTo>
                <a:lnTo>
                  <a:pt x="22913" y="311561"/>
                </a:lnTo>
                <a:lnTo>
                  <a:pt x="38946" y="269996"/>
                </a:lnTo>
                <a:lnTo>
                  <a:pt x="58977" y="230203"/>
                </a:lnTo>
                <a:lnTo>
                  <a:pt x="82811" y="192565"/>
                </a:lnTo>
                <a:lnTo>
                  <a:pt x="110220" y="157444"/>
                </a:lnTo>
                <a:lnTo>
                  <a:pt x="140940" y="125179"/>
                </a:lnTo>
                <a:lnTo>
                  <a:pt x="174673" y="96081"/>
                </a:lnTo>
                <a:lnTo>
                  <a:pt x="211097" y="70429"/>
                </a:lnTo>
                <a:lnTo>
                  <a:pt x="249860" y="48470"/>
                </a:lnTo>
                <a:lnTo>
                  <a:pt x="290588" y="30417"/>
                </a:lnTo>
                <a:lnTo>
                  <a:pt x="332889" y="16443"/>
                </a:lnTo>
                <a:lnTo>
                  <a:pt x="376357" y="6682"/>
                </a:lnTo>
                <a:lnTo>
                  <a:pt x="420572" y="1229"/>
                </a:lnTo>
                <a:lnTo>
                  <a:pt x="453965" y="0"/>
                </a:lnTo>
                <a:lnTo>
                  <a:pt x="465109" y="136"/>
                </a:lnTo>
                <a:lnTo>
                  <a:pt x="509538" y="3414"/>
                </a:lnTo>
                <a:lnTo>
                  <a:pt x="553432" y="11030"/>
                </a:lnTo>
                <a:lnTo>
                  <a:pt x="596368" y="22913"/>
                </a:lnTo>
                <a:lnTo>
                  <a:pt x="637933" y="38946"/>
                </a:lnTo>
                <a:lnTo>
                  <a:pt x="677726" y="58977"/>
                </a:lnTo>
                <a:lnTo>
                  <a:pt x="715364" y="82811"/>
                </a:lnTo>
                <a:lnTo>
                  <a:pt x="750485" y="110220"/>
                </a:lnTo>
                <a:lnTo>
                  <a:pt x="782750" y="140940"/>
                </a:lnTo>
                <a:lnTo>
                  <a:pt x="811848" y="174673"/>
                </a:lnTo>
                <a:lnTo>
                  <a:pt x="837500" y="211097"/>
                </a:lnTo>
                <a:lnTo>
                  <a:pt x="859459" y="249860"/>
                </a:lnTo>
                <a:lnTo>
                  <a:pt x="877512" y="290588"/>
                </a:lnTo>
                <a:lnTo>
                  <a:pt x="891486" y="332889"/>
                </a:lnTo>
                <a:lnTo>
                  <a:pt x="901247" y="376357"/>
                </a:lnTo>
                <a:lnTo>
                  <a:pt x="906700" y="420572"/>
                </a:lnTo>
                <a:lnTo>
                  <a:pt x="907930" y="453965"/>
                </a:lnTo>
                <a:lnTo>
                  <a:pt x="907793" y="465109"/>
                </a:lnTo>
                <a:lnTo>
                  <a:pt x="904515" y="509538"/>
                </a:lnTo>
                <a:lnTo>
                  <a:pt x="896899" y="553432"/>
                </a:lnTo>
                <a:lnTo>
                  <a:pt x="885016" y="596368"/>
                </a:lnTo>
                <a:lnTo>
                  <a:pt x="868983" y="637933"/>
                </a:lnTo>
                <a:lnTo>
                  <a:pt x="848952" y="677726"/>
                </a:lnTo>
                <a:lnTo>
                  <a:pt x="825118" y="715364"/>
                </a:lnTo>
                <a:lnTo>
                  <a:pt x="797709" y="750485"/>
                </a:lnTo>
                <a:lnTo>
                  <a:pt x="766989" y="782750"/>
                </a:lnTo>
                <a:lnTo>
                  <a:pt x="733256" y="811848"/>
                </a:lnTo>
                <a:lnTo>
                  <a:pt x="696832" y="837500"/>
                </a:lnTo>
                <a:lnTo>
                  <a:pt x="658069" y="859459"/>
                </a:lnTo>
                <a:lnTo>
                  <a:pt x="617341" y="877512"/>
                </a:lnTo>
                <a:lnTo>
                  <a:pt x="575040" y="891486"/>
                </a:lnTo>
                <a:lnTo>
                  <a:pt x="531572" y="901247"/>
                </a:lnTo>
                <a:lnTo>
                  <a:pt x="487357" y="906700"/>
                </a:lnTo>
                <a:lnTo>
                  <a:pt x="453965" y="90793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793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EB34F-4E8A-238E-EAF9-4F9C2BB6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3682C-F557-8C05-90A7-EFE015766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D204-F450-A5C1-ED4E-95C15158F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DE926-4AD2-854A-80CB-8145835204DE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89E13-8065-9AC4-B576-69789F642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0BE3F-6917-B17C-86B6-456B2146E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5D5CC-11DF-434F-B571-C7D0A9F25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5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 flipV="1">
            <a:off x="2092181" y="4538742"/>
            <a:ext cx="10099819" cy="47466"/>
          </a:xfrm>
          <a:custGeom>
            <a:avLst/>
            <a:gdLst/>
            <a:ahLst/>
            <a:cxnLst/>
            <a:rect l="l" t="t" r="r" b="b"/>
            <a:pathLst>
              <a:path w="5353050" h="28575">
                <a:moveTo>
                  <a:pt x="5353049" y="28574"/>
                </a:moveTo>
                <a:lnTo>
                  <a:pt x="0" y="28574"/>
                </a:lnTo>
                <a:lnTo>
                  <a:pt x="0" y="0"/>
                </a:lnTo>
                <a:lnTo>
                  <a:pt x="5353049" y="0"/>
                </a:lnTo>
                <a:lnTo>
                  <a:pt x="5353049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1CBBAA-609D-E668-5B7A-DC0390F06082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67" marR="3387">
              <a:lnSpc>
                <a:spcPts val="6940"/>
              </a:lnSpc>
              <a:spcBef>
                <a:spcPts val="793"/>
              </a:spcBef>
            </a:pPr>
            <a:r>
              <a:rPr lang="en-US" sz="5400" dirty="0">
                <a:solidFill>
                  <a:srgbClr val="0C234A"/>
                </a:solidFill>
                <a:latin typeface="Times New Roman"/>
                <a:cs typeface="Times New Roman"/>
              </a:rPr>
              <a:t>Descriptive Statistics and Log Results</a:t>
            </a:r>
            <a:endParaRPr lang="en-US" sz="5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5A23-54EE-C292-713E-07B0C05F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E9FA49E-9602-6CE2-FBA4-63CF38ECDA65}"/>
              </a:ext>
            </a:extLst>
          </p:cNvPr>
          <p:cNvSpPr txBox="1">
            <a:spLocks/>
          </p:cNvSpPr>
          <p:nvPr/>
        </p:nvSpPr>
        <p:spPr>
          <a:xfrm>
            <a:off x="589558" y="244742"/>
            <a:ext cx="7015498" cy="123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67" marR="3387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Small Business </a:t>
            </a:r>
          </a:p>
          <a:p>
            <a:pPr marL="8467" marR="3387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Descriptive Statistics for our key variables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3820D6-0F8B-A59F-0EEB-502B8F09842A}"/>
              </a:ext>
            </a:extLst>
          </p:cNvPr>
          <p:cNvSpPr txBox="1"/>
          <p:nvPr/>
        </p:nvSpPr>
        <p:spPr>
          <a:xfrm>
            <a:off x="6698974" y="20474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3A9274-0471-7CF4-D69A-A96A41CBC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997539"/>
              </p:ext>
            </p:extLst>
          </p:nvPr>
        </p:nvGraphicFramePr>
        <p:xfrm>
          <a:off x="761801" y="2983706"/>
          <a:ext cx="10668008" cy="262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053">
                  <a:extLst>
                    <a:ext uri="{9D8B030D-6E8A-4147-A177-3AD203B41FA5}">
                      <a16:colId xmlns:a16="http://schemas.microsoft.com/office/drawing/2014/main" val="3647266841"/>
                    </a:ext>
                  </a:extLst>
                </a:gridCol>
                <a:gridCol w="1383959">
                  <a:extLst>
                    <a:ext uri="{9D8B030D-6E8A-4147-A177-3AD203B41FA5}">
                      <a16:colId xmlns:a16="http://schemas.microsoft.com/office/drawing/2014/main" val="899721058"/>
                    </a:ext>
                  </a:extLst>
                </a:gridCol>
                <a:gridCol w="1171146">
                  <a:extLst>
                    <a:ext uri="{9D8B030D-6E8A-4147-A177-3AD203B41FA5}">
                      <a16:colId xmlns:a16="http://schemas.microsoft.com/office/drawing/2014/main" val="1806276067"/>
                    </a:ext>
                  </a:extLst>
                </a:gridCol>
                <a:gridCol w="851928">
                  <a:extLst>
                    <a:ext uri="{9D8B030D-6E8A-4147-A177-3AD203B41FA5}">
                      <a16:colId xmlns:a16="http://schemas.microsoft.com/office/drawing/2014/main" val="2172608118"/>
                    </a:ext>
                  </a:extLst>
                </a:gridCol>
                <a:gridCol w="958335">
                  <a:extLst>
                    <a:ext uri="{9D8B030D-6E8A-4147-A177-3AD203B41FA5}">
                      <a16:colId xmlns:a16="http://schemas.microsoft.com/office/drawing/2014/main" val="3366959310"/>
                    </a:ext>
                  </a:extLst>
                </a:gridCol>
                <a:gridCol w="1171147">
                  <a:extLst>
                    <a:ext uri="{9D8B030D-6E8A-4147-A177-3AD203B41FA5}">
                      <a16:colId xmlns:a16="http://schemas.microsoft.com/office/drawing/2014/main" val="2247879284"/>
                    </a:ext>
                  </a:extLst>
                </a:gridCol>
                <a:gridCol w="958335">
                  <a:extLst>
                    <a:ext uri="{9D8B030D-6E8A-4147-A177-3AD203B41FA5}">
                      <a16:colId xmlns:a16="http://schemas.microsoft.com/office/drawing/2014/main" val="272903330"/>
                    </a:ext>
                  </a:extLst>
                </a:gridCol>
                <a:gridCol w="1171146">
                  <a:extLst>
                    <a:ext uri="{9D8B030D-6E8A-4147-A177-3AD203B41FA5}">
                      <a16:colId xmlns:a16="http://schemas.microsoft.com/office/drawing/2014/main" val="946845220"/>
                    </a:ext>
                  </a:extLst>
                </a:gridCol>
                <a:gridCol w="1383959">
                  <a:extLst>
                    <a:ext uri="{9D8B030D-6E8A-4147-A177-3AD203B41FA5}">
                      <a16:colId xmlns:a16="http://schemas.microsoft.com/office/drawing/2014/main" val="2759977811"/>
                    </a:ext>
                  </a:extLst>
                </a:gridCol>
              </a:tblGrid>
              <a:tr h="52552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Variable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Mean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SD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Min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p25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p50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p75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Max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N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extLst>
                  <a:ext uri="{0D108BD9-81ED-4DB2-BD59-A6C34878D82A}">
                    <a16:rowId xmlns:a16="http://schemas.microsoft.com/office/drawing/2014/main" val="671356488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fico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672.94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71.52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434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627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676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721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850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30,877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1622356166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tsr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0.45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0.32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0.18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0.39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0.73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0.999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30,877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3862968736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cdss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0.34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0.33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0.07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0.207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0.56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0.999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30,877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1793863113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probc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0.74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0.37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0.71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0.94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>
                          <a:effectLst/>
                        </a:rPr>
                        <a:t>0.98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30,877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302383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99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A50DC4-354D-7220-34C4-4FDA0707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53" y="161310"/>
            <a:ext cx="4844142" cy="32219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57044-A807-5E42-F570-1D9B83322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410" y="158843"/>
            <a:ext cx="4844142" cy="30655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AAEE02-BC2C-2CF4-7D75-483F72455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53" y="3631096"/>
            <a:ext cx="4844142" cy="30655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16AFBE-2A53-18A6-EBD1-A1D6EE530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410" y="3631096"/>
            <a:ext cx="4844142" cy="306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9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3F05D-1E02-2F9A-46FB-DE13E3FE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BA02C-5569-66FD-8A38-D57BAB74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 Results: Base Model</a:t>
            </a:r>
            <a:b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AUC = 0.7489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0BF63-011A-ADF5-3ADF-B3FAF1A0C1EE}"/>
              </a:ext>
            </a:extLst>
          </p:cNvPr>
          <p:cNvSpPr txBox="1"/>
          <p:nvPr/>
        </p:nvSpPr>
        <p:spPr>
          <a:xfrm>
            <a:off x="7605057" y="244741"/>
            <a:ext cx="4114801" cy="1235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*Margins calculated using the Delta Method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462E05-9182-FD15-245D-0E18A6C42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25311"/>
              </p:ext>
            </p:extLst>
          </p:nvPr>
        </p:nvGraphicFramePr>
        <p:xfrm>
          <a:off x="761801" y="2714235"/>
          <a:ext cx="10668007" cy="316656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43721">
                  <a:extLst>
                    <a:ext uri="{9D8B030D-6E8A-4147-A177-3AD203B41FA5}">
                      <a16:colId xmlns:a16="http://schemas.microsoft.com/office/drawing/2014/main" val="3638850474"/>
                    </a:ext>
                  </a:extLst>
                </a:gridCol>
                <a:gridCol w="1402438">
                  <a:extLst>
                    <a:ext uri="{9D8B030D-6E8A-4147-A177-3AD203B41FA5}">
                      <a16:colId xmlns:a16="http://schemas.microsoft.com/office/drawing/2014/main" val="4168603314"/>
                    </a:ext>
                  </a:extLst>
                </a:gridCol>
                <a:gridCol w="1693668">
                  <a:extLst>
                    <a:ext uri="{9D8B030D-6E8A-4147-A177-3AD203B41FA5}">
                      <a16:colId xmlns:a16="http://schemas.microsoft.com/office/drawing/2014/main" val="918219346"/>
                    </a:ext>
                  </a:extLst>
                </a:gridCol>
                <a:gridCol w="1607208">
                  <a:extLst>
                    <a:ext uri="{9D8B030D-6E8A-4147-A177-3AD203B41FA5}">
                      <a16:colId xmlns:a16="http://schemas.microsoft.com/office/drawing/2014/main" val="1591518130"/>
                    </a:ext>
                  </a:extLst>
                </a:gridCol>
                <a:gridCol w="1315982">
                  <a:extLst>
                    <a:ext uri="{9D8B030D-6E8A-4147-A177-3AD203B41FA5}">
                      <a16:colId xmlns:a16="http://schemas.microsoft.com/office/drawing/2014/main" val="1792151812"/>
                    </a:ext>
                  </a:extLst>
                </a:gridCol>
                <a:gridCol w="1452495">
                  <a:extLst>
                    <a:ext uri="{9D8B030D-6E8A-4147-A177-3AD203B41FA5}">
                      <a16:colId xmlns:a16="http://schemas.microsoft.com/office/drawing/2014/main" val="1269211766"/>
                    </a:ext>
                  </a:extLst>
                </a:gridCol>
                <a:gridCol w="1452495">
                  <a:extLst>
                    <a:ext uri="{9D8B030D-6E8A-4147-A177-3AD203B41FA5}">
                      <a16:colId xmlns:a16="http://schemas.microsoft.com/office/drawing/2014/main" val="3443316266"/>
                    </a:ext>
                  </a:extLst>
                </a:gridCol>
              </a:tblGrid>
              <a:tr h="10135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Variable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dy/dx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Std. Err.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z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P&gt;|z|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95% CI Lower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95% CI Upper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/>
                </a:tc>
                <a:extLst>
                  <a:ext uri="{0D108BD9-81ED-4DB2-BD59-A6C34878D82A}">
                    <a16:rowId xmlns:a16="http://schemas.microsoft.com/office/drawing/2014/main" val="3869889950"/>
                  </a:ext>
                </a:extLst>
              </a:tr>
              <a:tr h="5382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fico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0.130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0.899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extLst>
                  <a:ext uri="{0D108BD9-81ED-4DB2-BD59-A6C34878D82A}">
                    <a16:rowId xmlns:a16="http://schemas.microsoft.com/office/drawing/2014/main" val="2662473453"/>
                  </a:ext>
                </a:extLst>
              </a:tr>
              <a:tr h="5382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tsr</a:t>
                      </a:r>
                      <a:endParaRPr lang="en-US" sz="5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0.158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0.014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11.260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0.131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0.186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extLst>
                  <a:ext uri="{0D108BD9-81ED-4DB2-BD59-A6C34878D82A}">
                    <a16:rowId xmlns:a16="http://schemas.microsoft.com/office/drawing/2014/main" val="2910471249"/>
                  </a:ext>
                </a:extLst>
              </a:tr>
              <a:tr h="5382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100" b="1" u="none" strike="noStrike">
                          <a:solidFill>
                            <a:srgbClr val="000000"/>
                          </a:solidFill>
                          <a:effectLst/>
                        </a:rPr>
                        <a:t>cdss</a:t>
                      </a:r>
                      <a:endParaRPr lang="en-US" sz="5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0.171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0.012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14.420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0.148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0.194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extLst>
                  <a:ext uri="{0D108BD9-81ED-4DB2-BD59-A6C34878D82A}">
                    <a16:rowId xmlns:a16="http://schemas.microsoft.com/office/drawing/2014/main" val="2741278711"/>
                  </a:ext>
                </a:extLst>
              </a:tr>
              <a:tr h="5382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1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probc</a:t>
                      </a:r>
                      <a:endParaRPr lang="en-US" sz="52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-0.054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-10.250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-0.064</a:t>
                      </a:r>
                      <a:endParaRPr lang="en-US" sz="5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-0.043</a:t>
                      </a:r>
                      <a:endParaRPr lang="en-US" sz="5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303" marR="27303" marT="27303" marB="0" anchor="b"/>
                </a:tc>
                <a:extLst>
                  <a:ext uri="{0D108BD9-81ED-4DB2-BD59-A6C34878D82A}">
                    <a16:rowId xmlns:a16="http://schemas.microsoft.com/office/drawing/2014/main" val="3064778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97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09E0B-8719-11F6-553A-2A2F08FC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Background">
            <a:extLst>
              <a:ext uri="{FF2B5EF4-FFF2-40B4-BE49-F238E27FC236}">
                <a16:creationId xmlns:a16="http://schemas.microsoft.com/office/drawing/2014/main" id="{B50D074C-5457-4294-A181-6B67F4146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29836"/>
            <a:ext cx="12192000" cy="172019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D62E7-5531-3FE3-975A-F2941835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429992"/>
            <a:ext cx="6973355" cy="11198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 Results: Full Model</a:t>
            </a:r>
            <a:b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AUC = 0.7523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7586B-7338-9919-CEF9-EB07E5177C06}"/>
              </a:ext>
            </a:extLst>
          </p:cNvPr>
          <p:cNvSpPr txBox="1"/>
          <p:nvPr/>
        </p:nvSpPr>
        <p:spPr>
          <a:xfrm>
            <a:off x="7562912" y="5429992"/>
            <a:ext cx="4156945" cy="1119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*Margins calculated using the Delta Method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F28F9B-9927-4472-294E-719F91B48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908062"/>
              </p:ext>
            </p:extLst>
          </p:nvPr>
        </p:nvGraphicFramePr>
        <p:xfrm>
          <a:off x="508590" y="170120"/>
          <a:ext cx="11174819" cy="51763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22064">
                  <a:extLst>
                    <a:ext uri="{9D8B030D-6E8A-4147-A177-3AD203B41FA5}">
                      <a16:colId xmlns:a16="http://schemas.microsoft.com/office/drawing/2014/main" val="466539213"/>
                    </a:ext>
                  </a:extLst>
                </a:gridCol>
                <a:gridCol w="798801">
                  <a:extLst>
                    <a:ext uri="{9D8B030D-6E8A-4147-A177-3AD203B41FA5}">
                      <a16:colId xmlns:a16="http://schemas.microsoft.com/office/drawing/2014/main" val="4013223607"/>
                    </a:ext>
                  </a:extLst>
                </a:gridCol>
                <a:gridCol w="1370794">
                  <a:extLst>
                    <a:ext uri="{9D8B030D-6E8A-4147-A177-3AD203B41FA5}">
                      <a16:colId xmlns:a16="http://schemas.microsoft.com/office/drawing/2014/main" val="3359040568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3824609330"/>
                    </a:ext>
                  </a:extLst>
                </a:gridCol>
                <a:gridCol w="1136493">
                  <a:extLst>
                    <a:ext uri="{9D8B030D-6E8A-4147-A177-3AD203B41FA5}">
                      <a16:colId xmlns:a16="http://schemas.microsoft.com/office/drawing/2014/main" val="3406058149"/>
                    </a:ext>
                  </a:extLst>
                </a:gridCol>
                <a:gridCol w="2066905">
                  <a:extLst>
                    <a:ext uri="{9D8B030D-6E8A-4147-A177-3AD203B41FA5}">
                      <a16:colId xmlns:a16="http://schemas.microsoft.com/office/drawing/2014/main" val="2444007100"/>
                    </a:ext>
                  </a:extLst>
                </a:gridCol>
                <a:gridCol w="2070457">
                  <a:extLst>
                    <a:ext uri="{9D8B030D-6E8A-4147-A177-3AD203B41FA5}">
                      <a16:colId xmlns:a16="http://schemas.microsoft.com/office/drawing/2014/main" val="1057816944"/>
                    </a:ext>
                  </a:extLst>
                </a:gridCol>
              </a:tblGrid>
              <a:tr h="2334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Variable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dy/dx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Std. Err.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z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P&gt;|z|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95% CI Lower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95% CI Upper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110693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fico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0.870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0.385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295132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tsr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0.450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0.044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10.150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0.363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0.537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893177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cdss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0.125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3.260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0.050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66975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probc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-0.054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-10.080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-0.065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-0.044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06390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num_products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-3.220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379344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bal_due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11.369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3.474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3.270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4.559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18.179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286038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bal_over_expr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1.730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0.084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470757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tenure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1.870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406688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cs_other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-0.296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-2.740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-0.085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797396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cs_low_balance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-0.200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0.114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-1.750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0.080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-0.423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0.024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394019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cs_currents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-0.286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-2.640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-0.499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-0.074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62696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cs_seg_a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-0.317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-2.910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-0.530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285595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cs_high_balance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-0.325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-3.000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-0.538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-0.113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636731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cs_cfs_team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-0.231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0.118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-1.950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0.051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-0.463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6782"/>
                  </a:ext>
                </a:extLst>
              </a:tr>
              <a:tr h="3090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cs_arct_team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46303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d_chrg_lend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-0.004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0.007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-0.570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0.570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-0.019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0.010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246670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d_chrg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0.280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0.778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-0.008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0.011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419265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tsr_sq</a:t>
                      </a:r>
                      <a:endParaRPr lang="en-US" sz="2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-0.265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0.036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-7.400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-0.335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-0.195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034788"/>
                  </a:ext>
                </a:extLst>
              </a:tr>
              <a:tr h="2334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cdss_sq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0.032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1.880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0.060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-0.003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0.122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81" marR="8881" marT="88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953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77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393C-4D63-B435-32B0-1151D446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BD4C35-FB23-D145-0AB1-C57EC8251F0C}"/>
              </a:ext>
            </a:extLst>
          </p:cNvPr>
          <p:cNvSpPr txBox="1">
            <a:spLocks/>
          </p:cNvSpPr>
          <p:nvPr/>
        </p:nvSpPr>
        <p:spPr>
          <a:xfrm>
            <a:off x="589558" y="244742"/>
            <a:ext cx="7015498" cy="123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467" marR="3387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Consumer</a:t>
            </a:r>
          </a:p>
          <a:p>
            <a:pPr marL="8467" marR="3387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Descriptive Statistics for our key variables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1CF65B-C89B-E91B-CFB1-B9A36168130D}"/>
              </a:ext>
            </a:extLst>
          </p:cNvPr>
          <p:cNvSpPr txBox="1"/>
          <p:nvPr/>
        </p:nvSpPr>
        <p:spPr>
          <a:xfrm>
            <a:off x="6698974" y="20474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F542B2-6D51-BF62-E203-6CEC84A18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666848"/>
              </p:ext>
            </p:extLst>
          </p:nvPr>
        </p:nvGraphicFramePr>
        <p:xfrm>
          <a:off x="761801" y="2983706"/>
          <a:ext cx="10668008" cy="26276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8053">
                  <a:extLst>
                    <a:ext uri="{9D8B030D-6E8A-4147-A177-3AD203B41FA5}">
                      <a16:colId xmlns:a16="http://schemas.microsoft.com/office/drawing/2014/main" val="3647266841"/>
                    </a:ext>
                  </a:extLst>
                </a:gridCol>
                <a:gridCol w="1383959">
                  <a:extLst>
                    <a:ext uri="{9D8B030D-6E8A-4147-A177-3AD203B41FA5}">
                      <a16:colId xmlns:a16="http://schemas.microsoft.com/office/drawing/2014/main" val="899721058"/>
                    </a:ext>
                  </a:extLst>
                </a:gridCol>
                <a:gridCol w="1171146">
                  <a:extLst>
                    <a:ext uri="{9D8B030D-6E8A-4147-A177-3AD203B41FA5}">
                      <a16:colId xmlns:a16="http://schemas.microsoft.com/office/drawing/2014/main" val="1806276067"/>
                    </a:ext>
                  </a:extLst>
                </a:gridCol>
                <a:gridCol w="851928">
                  <a:extLst>
                    <a:ext uri="{9D8B030D-6E8A-4147-A177-3AD203B41FA5}">
                      <a16:colId xmlns:a16="http://schemas.microsoft.com/office/drawing/2014/main" val="2172608118"/>
                    </a:ext>
                  </a:extLst>
                </a:gridCol>
                <a:gridCol w="958335">
                  <a:extLst>
                    <a:ext uri="{9D8B030D-6E8A-4147-A177-3AD203B41FA5}">
                      <a16:colId xmlns:a16="http://schemas.microsoft.com/office/drawing/2014/main" val="3366959310"/>
                    </a:ext>
                  </a:extLst>
                </a:gridCol>
                <a:gridCol w="1171147">
                  <a:extLst>
                    <a:ext uri="{9D8B030D-6E8A-4147-A177-3AD203B41FA5}">
                      <a16:colId xmlns:a16="http://schemas.microsoft.com/office/drawing/2014/main" val="2247879284"/>
                    </a:ext>
                  </a:extLst>
                </a:gridCol>
                <a:gridCol w="958335">
                  <a:extLst>
                    <a:ext uri="{9D8B030D-6E8A-4147-A177-3AD203B41FA5}">
                      <a16:colId xmlns:a16="http://schemas.microsoft.com/office/drawing/2014/main" val="272903330"/>
                    </a:ext>
                  </a:extLst>
                </a:gridCol>
                <a:gridCol w="1171146">
                  <a:extLst>
                    <a:ext uri="{9D8B030D-6E8A-4147-A177-3AD203B41FA5}">
                      <a16:colId xmlns:a16="http://schemas.microsoft.com/office/drawing/2014/main" val="946845220"/>
                    </a:ext>
                  </a:extLst>
                </a:gridCol>
                <a:gridCol w="1383959">
                  <a:extLst>
                    <a:ext uri="{9D8B030D-6E8A-4147-A177-3AD203B41FA5}">
                      <a16:colId xmlns:a16="http://schemas.microsoft.com/office/drawing/2014/main" val="2759977811"/>
                    </a:ext>
                  </a:extLst>
                </a:gridCol>
              </a:tblGrid>
              <a:tr h="525525"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 dirty="0">
                          <a:effectLst/>
                        </a:rPr>
                        <a:t>Variable</a:t>
                      </a:r>
                      <a:endParaRPr lang="en-US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Mean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SD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 dirty="0">
                          <a:effectLst/>
                        </a:rPr>
                        <a:t>Min</a:t>
                      </a:r>
                      <a:endParaRPr lang="en-US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 dirty="0">
                          <a:effectLst/>
                        </a:rPr>
                        <a:t>p25</a:t>
                      </a:r>
                      <a:endParaRPr lang="en-US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 dirty="0">
                          <a:effectLst/>
                        </a:rPr>
                        <a:t>p50</a:t>
                      </a:r>
                      <a:endParaRPr lang="en-US" sz="3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p75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Max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3000" u="none" strike="noStrike">
                          <a:effectLst/>
                        </a:rPr>
                        <a:t>N</a:t>
                      </a:r>
                      <a:endParaRPr lang="en-US" sz="3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/>
                </a:tc>
                <a:extLst>
                  <a:ext uri="{0D108BD9-81ED-4DB2-BD59-A6C34878D82A}">
                    <a16:rowId xmlns:a16="http://schemas.microsoft.com/office/drawing/2014/main" val="671356488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fico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636.25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67.08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431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588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638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683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850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92,894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1622356166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tsr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0.56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0.34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0.25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0.53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0.98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0.999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92,894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3862968736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cdss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0.42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0.34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0.13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0.31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0.71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0.999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92,894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1793863113"/>
                  </a:ext>
                </a:extLst>
              </a:tr>
              <a:tr h="525525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u="none" strike="noStrike">
                          <a:effectLst/>
                        </a:rPr>
                        <a:t>probc</a:t>
                      </a:r>
                      <a:endParaRPr lang="en-US" sz="3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0.88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0.15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0.84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0.97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u="none" strike="noStrike" dirty="0">
                          <a:effectLst/>
                        </a:rPr>
                        <a:t>0.97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.999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92,894</a:t>
                      </a:r>
                      <a:endParaRPr lang="en-US" sz="3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989" marR="24989" marT="24989" marB="0" anchor="b"/>
                </a:tc>
                <a:extLst>
                  <a:ext uri="{0D108BD9-81ED-4DB2-BD59-A6C34878D82A}">
                    <a16:rowId xmlns:a16="http://schemas.microsoft.com/office/drawing/2014/main" val="302383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33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E06C2F-433C-08AA-1647-6C6C55F84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3" y="124662"/>
            <a:ext cx="4801612" cy="31936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702BF-58A5-6B19-9F9B-9C23E6C4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954" y="124662"/>
            <a:ext cx="4801612" cy="31936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FA7BC2-54BC-F5B0-F572-D6C4E013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3" y="3631096"/>
            <a:ext cx="4801612" cy="3102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0FA993-108D-A054-2AFC-5F660E49A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434" y="3711608"/>
            <a:ext cx="4801612" cy="302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5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AEF26-2325-3832-57B8-EF7C70E5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 Results: Base Model</a:t>
            </a:r>
            <a:b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AUC = 0.7269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EC3C66-903C-A585-2CFC-614D2D1A6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302171"/>
              </p:ext>
            </p:extLst>
          </p:nvPr>
        </p:nvGraphicFramePr>
        <p:xfrm>
          <a:off x="761801" y="2650626"/>
          <a:ext cx="10668007" cy="32937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88340">
                  <a:extLst>
                    <a:ext uri="{9D8B030D-6E8A-4147-A177-3AD203B41FA5}">
                      <a16:colId xmlns:a16="http://schemas.microsoft.com/office/drawing/2014/main" val="2334564260"/>
                    </a:ext>
                  </a:extLst>
                </a:gridCol>
                <a:gridCol w="1371140">
                  <a:extLst>
                    <a:ext uri="{9D8B030D-6E8A-4147-A177-3AD203B41FA5}">
                      <a16:colId xmlns:a16="http://schemas.microsoft.com/office/drawing/2014/main" val="1648239596"/>
                    </a:ext>
                  </a:extLst>
                </a:gridCol>
                <a:gridCol w="1675653">
                  <a:extLst>
                    <a:ext uri="{9D8B030D-6E8A-4147-A177-3AD203B41FA5}">
                      <a16:colId xmlns:a16="http://schemas.microsoft.com/office/drawing/2014/main" val="2764335486"/>
                    </a:ext>
                  </a:extLst>
                </a:gridCol>
                <a:gridCol w="1578378">
                  <a:extLst>
                    <a:ext uri="{9D8B030D-6E8A-4147-A177-3AD203B41FA5}">
                      <a16:colId xmlns:a16="http://schemas.microsoft.com/office/drawing/2014/main" val="2559107363"/>
                    </a:ext>
                  </a:extLst>
                </a:gridCol>
                <a:gridCol w="1248492">
                  <a:extLst>
                    <a:ext uri="{9D8B030D-6E8A-4147-A177-3AD203B41FA5}">
                      <a16:colId xmlns:a16="http://schemas.microsoft.com/office/drawing/2014/main" val="1768535747"/>
                    </a:ext>
                  </a:extLst>
                </a:gridCol>
                <a:gridCol w="1553002">
                  <a:extLst>
                    <a:ext uri="{9D8B030D-6E8A-4147-A177-3AD203B41FA5}">
                      <a16:colId xmlns:a16="http://schemas.microsoft.com/office/drawing/2014/main" val="693130491"/>
                    </a:ext>
                  </a:extLst>
                </a:gridCol>
                <a:gridCol w="1553002">
                  <a:extLst>
                    <a:ext uri="{9D8B030D-6E8A-4147-A177-3AD203B41FA5}">
                      <a16:colId xmlns:a16="http://schemas.microsoft.com/office/drawing/2014/main" val="1497530391"/>
                    </a:ext>
                  </a:extLst>
                </a:gridCol>
              </a:tblGrid>
              <a:tr h="101604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>
                          <a:effectLst/>
                        </a:rPr>
                        <a:t>Variable</a:t>
                      </a:r>
                      <a:endParaRPr lang="en-US" sz="2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>
                          <a:effectLst/>
                        </a:rPr>
                        <a:t>dy/dx</a:t>
                      </a:r>
                      <a:endParaRPr lang="en-US" sz="2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>
                          <a:effectLst/>
                        </a:rPr>
                        <a:t>Std. Err.</a:t>
                      </a:r>
                      <a:endParaRPr lang="en-US" sz="2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 dirty="0">
                          <a:effectLst/>
                        </a:rPr>
                        <a:t>z</a:t>
                      </a:r>
                      <a:endParaRPr lang="en-US" sz="2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>
                          <a:effectLst/>
                        </a:rPr>
                        <a:t>P&gt;|z|</a:t>
                      </a:r>
                      <a:endParaRPr lang="en-US" sz="2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>
                          <a:effectLst/>
                        </a:rPr>
                        <a:t>95% CI Lower</a:t>
                      </a:r>
                      <a:endParaRPr lang="en-US" sz="2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900" u="none" strike="noStrike">
                          <a:effectLst/>
                        </a:rPr>
                        <a:t>95% CI Upper</a:t>
                      </a:r>
                      <a:endParaRPr lang="en-US" sz="2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/>
                </a:tc>
                <a:extLst>
                  <a:ext uri="{0D108BD9-81ED-4DB2-BD59-A6C34878D82A}">
                    <a16:rowId xmlns:a16="http://schemas.microsoft.com/office/drawing/2014/main" val="1051983158"/>
                  </a:ext>
                </a:extLst>
              </a:tr>
              <a:tr h="569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900" u="none" strike="noStrike">
                          <a:effectLst/>
                        </a:rPr>
                        <a:t>fico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-0.630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0.530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extLst>
                  <a:ext uri="{0D108BD9-81ED-4DB2-BD59-A6C34878D82A}">
                    <a16:rowId xmlns:a16="http://schemas.microsoft.com/office/drawing/2014/main" val="181224917"/>
                  </a:ext>
                </a:extLst>
              </a:tr>
              <a:tr h="569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900" u="none" strike="noStrike">
                          <a:effectLst/>
                        </a:rPr>
                        <a:t>tsr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0.076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0.009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8.800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0.059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0.093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extLst>
                  <a:ext uri="{0D108BD9-81ED-4DB2-BD59-A6C34878D82A}">
                    <a16:rowId xmlns:a16="http://schemas.microsoft.com/office/drawing/2014/main" val="2869044185"/>
                  </a:ext>
                </a:extLst>
              </a:tr>
              <a:tr h="569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900" u="none" strike="noStrike">
                          <a:effectLst/>
                        </a:rPr>
                        <a:t>cdss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0.187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0.008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24.660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0.172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0.202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extLst>
                  <a:ext uri="{0D108BD9-81ED-4DB2-BD59-A6C34878D82A}">
                    <a16:rowId xmlns:a16="http://schemas.microsoft.com/office/drawing/2014/main" val="507417118"/>
                  </a:ext>
                </a:extLst>
              </a:tr>
              <a:tr h="569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900" u="none" strike="noStrike">
                          <a:effectLst/>
                        </a:rPr>
                        <a:t>probc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-0.175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0.008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-23.100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0.000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>
                          <a:effectLst/>
                        </a:rPr>
                        <a:t>-0.189</a:t>
                      </a:r>
                      <a:endParaRPr lang="en-US" sz="2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900" u="none" strike="noStrike" dirty="0">
                          <a:effectLst/>
                        </a:rPr>
                        <a:t>-0.160</a:t>
                      </a:r>
                      <a:endParaRPr lang="en-US" sz="2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376" marR="25376" marT="25376" marB="0" anchor="b"/>
                </a:tc>
                <a:extLst>
                  <a:ext uri="{0D108BD9-81ED-4DB2-BD59-A6C34878D82A}">
                    <a16:rowId xmlns:a16="http://schemas.microsoft.com/office/drawing/2014/main" val="2737886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75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Background">
            <a:extLst>
              <a:ext uri="{FF2B5EF4-FFF2-40B4-BE49-F238E27FC236}">
                <a16:creationId xmlns:a16="http://schemas.microsoft.com/office/drawing/2014/main" id="{B50D074C-5457-4294-A181-6B67F4146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29836"/>
            <a:ext cx="12192000" cy="172019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1A40E-7198-C8D0-3B57-FE1D4725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429992"/>
            <a:ext cx="6973355" cy="11198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 Results: Full Model</a:t>
            </a:r>
            <a:b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AUC = 0.7288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74F978-1AE4-7590-8A84-F288AA812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00938"/>
              </p:ext>
            </p:extLst>
          </p:nvPr>
        </p:nvGraphicFramePr>
        <p:xfrm>
          <a:off x="565845" y="94072"/>
          <a:ext cx="11036597" cy="5335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69104">
                  <a:extLst>
                    <a:ext uri="{9D8B030D-6E8A-4147-A177-3AD203B41FA5}">
                      <a16:colId xmlns:a16="http://schemas.microsoft.com/office/drawing/2014/main" val="4014759690"/>
                    </a:ext>
                  </a:extLst>
                </a:gridCol>
                <a:gridCol w="1245018">
                  <a:extLst>
                    <a:ext uri="{9D8B030D-6E8A-4147-A177-3AD203B41FA5}">
                      <a16:colId xmlns:a16="http://schemas.microsoft.com/office/drawing/2014/main" val="2133698984"/>
                    </a:ext>
                  </a:extLst>
                </a:gridCol>
                <a:gridCol w="1245018">
                  <a:extLst>
                    <a:ext uri="{9D8B030D-6E8A-4147-A177-3AD203B41FA5}">
                      <a16:colId xmlns:a16="http://schemas.microsoft.com/office/drawing/2014/main" val="2468438209"/>
                    </a:ext>
                  </a:extLst>
                </a:gridCol>
                <a:gridCol w="1245018">
                  <a:extLst>
                    <a:ext uri="{9D8B030D-6E8A-4147-A177-3AD203B41FA5}">
                      <a16:colId xmlns:a16="http://schemas.microsoft.com/office/drawing/2014/main" val="1598785729"/>
                    </a:ext>
                  </a:extLst>
                </a:gridCol>
                <a:gridCol w="1245018">
                  <a:extLst>
                    <a:ext uri="{9D8B030D-6E8A-4147-A177-3AD203B41FA5}">
                      <a16:colId xmlns:a16="http://schemas.microsoft.com/office/drawing/2014/main" val="1062137135"/>
                    </a:ext>
                  </a:extLst>
                </a:gridCol>
                <a:gridCol w="1890268">
                  <a:extLst>
                    <a:ext uri="{9D8B030D-6E8A-4147-A177-3AD203B41FA5}">
                      <a16:colId xmlns:a16="http://schemas.microsoft.com/office/drawing/2014/main" val="2552087496"/>
                    </a:ext>
                  </a:extLst>
                </a:gridCol>
                <a:gridCol w="1897153">
                  <a:extLst>
                    <a:ext uri="{9D8B030D-6E8A-4147-A177-3AD203B41FA5}">
                      <a16:colId xmlns:a16="http://schemas.microsoft.com/office/drawing/2014/main" val="2828031094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Variable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dy/dx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Std. Err.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z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P&gt;|z|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95% CI Lower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95% CI Upper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420555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fico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0.740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01850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tsr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12.180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448405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cdss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0.122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4.340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0.067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0.177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66895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probc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-0.174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-22.850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0.000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89346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num_products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-5.080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37363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bal_due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6.130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3.109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1.970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12.223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12968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bal_over_expr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0.530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0.596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46476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tenure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3.230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034605"/>
                  </a:ext>
                </a:extLst>
              </a:tr>
              <a:tr h="32894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cs_other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-3.360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-0.314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94598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cs_low_balance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-0.214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-3.620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-0.330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16121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cs_currents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-0.241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-4.050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-0.358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48691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cs_seg_a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-0.247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-4.080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-0.366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40579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cs_high_balance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-3.330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-0.313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56968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cs_cfs_team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2035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cs_arct_team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8144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d_chrg_lend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-4.210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45155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d_chrg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-4.310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-0.009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21054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tsr_sq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-0.241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-10.870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-0.284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-0.197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69988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cdss_sq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3.390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0.030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0.113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4" marR="8194" marT="81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027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375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728</Words>
  <Application>Microsoft Macintosh PowerPoint</Application>
  <PresentationFormat>Widescreen</PresentationFormat>
  <Paragraphs>439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Log Results: Base Model AUC = 0.7489</vt:lpstr>
      <vt:lpstr>Log Results: Full Model AUC = 0.7523</vt:lpstr>
      <vt:lpstr>PowerPoint Presentation</vt:lpstr>
      <vt:lpstr>PowerPoint Presentation</vt:lpstr>
      <vt:lpstr>Log Results: Base Model AUC = 0.7269</vt:lpstr>
      <vt:lpstr>Log Results: Full Model AUC = 0.7288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Salamanca Patino, Maria Camila - (mcsalamanca)</dc:creator>
  <cp:lastModifiedBy>Lanser, Joseph Lewis - (jlanser)</cp:lastModifiedBy>
  <cp:revision>21</cp:revision>
  <dcterms:created xsi:type="dcterms:W3CDTF">2025-11-09T17:54:59Z</dcterms:created>
  <dcterms:modified xsi:type="dcterms:W3CDTF">2025-11-10T18:16:22Z</dcterms:modified>
</cp:coreProperties>
</file>